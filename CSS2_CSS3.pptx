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98" r:id="rId49"/>
    <p:sldId id="299" r:id="rId50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33.xml"/><Relationship Id="rId50" Type="http://schemas.openxmlformats.org/officeDocument/2006/relationships/slide" Target="slides/slide3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800100" y="1143000"/>
            <a:ext cx="7810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CSS2 / CSS3 教学课件</a:t>
            </a:r>
            <a:endParaRPr sz="4050" b="1">
              <a:solidFill>
                <a:srgbClr val="FFFFFF"/>
              </a:solidFill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838200" y="2076450"/>
            <a:ext cx="7429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从选择器到布局，再到响应式与动画的渐进式课程</a:t>
            </a:r>
            <a:endParaRPr sz="1800" b="0">
              <a:solidFill>
                <a:srgbClr val="FFFFFF"/>
              </a:solidFill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838200" y="533400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教学示例 + 试验场 + 课堂课件</a:t>
            </a:r>
            <a:endParaRPr sz="15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685800" y="533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CSS2 / CSS3 教学课件</a:t>
            </a:r>
            <a:endParaRPr sz="1050" b="1">
              <a:solidFill>
                <a:srgbClr val="62748E"/>
              </a:solidFill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685800" y="8953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选择器是 CSS 的第一道判断题</a:t>
            </a:r>
            <a:endParaRPr sz="2700" b="1">
              <a:solidFill>
                <a:srgbClr val="020618"/>
              </a:solidFill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781050" y="1695450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Rectangles 4"/>
          <p:cNvSpPr>
            <a:spLocks noGrp="1"/>
          </p:cNvSpPr>
          <p:nvPr/>
        </p:nvSpPr>
        <p:spPr>
          <a:xfrm>
            <a:off x="971550" y="18669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简单选择器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971550" y="2209800"/>
            <a:ext cx="2000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元素、class、id、通用选择器解决“选谁”。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3448050" y="1695450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Rectangles 7"/>
          <p:cNvSpPr>
            <a:spLocks noGrp="1"/>
          </p:cNvSpPr>
          <p:nvPr/>
        </p:nvSpPr>
        <p:spPr>
          <a:xfrm>
            <a:off x="3638550" y="18669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组合器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3638550" y="2209800"/>
            <a:ext cx="2000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空格、&gt;、+、~ 描述元素关系。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115050" y="1695450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Rectangles 10"/>
          <p:cNvSpPr>
            <a:spLocks noGrp="1"/>
          </p:cNvSpPr>
          <p:nvPr/>
        </p:nvSpPr>
        <p:spPr>
          <a:xfrm>
            <a:off x="6305550" y="18669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属性选择器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6305550" y="2209800"/>
            <a:ext cx="2000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[attr]、^=、$=、*= 适合链接和状态。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782050" y="1695450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Rectangles 13"/>
          <p:cNvSpPr>
            <a:spLocks noGrp="1"/>
          </p:cNvSpPr>
          <p:nvPr/>
        </p:nvSpPr>
        <p:spPr>
          <a:xfrm>
            <a:off x="8972550" y="18669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伪类 / 伪元素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8972550" y="2209800"/>
            <a:ext cx="2000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:hover、:checked、:nth-child、::before 等表达状态与局部。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876300" y="42862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314158"/>
                </a:solidFill>
              </a:defRPr>
            </a:pPr>
            <a:r>
              <a:rPr sz="1650" b="1">
                <a:solidFill>
                  <a:srgbClr val="314158"/>
                </a:solidFill>
              </a:rPr>
              <a:t>课堂目标：学生能根据 HTML 结构选择最小、清晰、可维护的 selector。</a:t>
            </a:r>
            <a:endParaRPr sz="1650" b="1">
              <a:solidFill>
                <a:srgbClr val="31415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685800" y="533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CSS2 / CSS3 教学课件</a:t>
            </a:r>
            <a:endParaRPr sz="1050" b="1">
              <a:solidFill>
                <a:srgbClr val="62748E"/>
              </a:solidFill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685800" y="8953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fffuel 式可视化练习适合讲清“命中范围”</a:t>
            </a:r>
            <a:endParaRPr sz="2700" b="1">
              <a:solidFill>
                <a:srgbClr val="020618"/>
              </a:solidFill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800100" y="169545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Rectangles 4"/>
          <p:cNvSpPr>
            <a:spLocks noGrp="1"/>
          </p:cNvSpPr>
          <p:nvPr/>
        </p:nvSpPr>
        <p:spPr>
          <a:xfrm>
            <a:off x="990600" y="18669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兄弟关系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990600" y="2209800"/>
            <a:ext cx="2667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A + B 只选紧邻兄弟；A ~ B 选择后续同级兄弟。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4572000" y="169545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Rectangles 7"/>
          <p:cNvSpPr>
            <a:spLocks noGrp="1"/>
          </p:cNvSpPr>
          <p:nvPr/>
        </p:nvSpPr>
        <p:spPr>
          <a:xfrm>
            <a:off x="4762500" y="18669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属性匹配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4762500" y="2209800"/>
            <a:ext cx="2667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href^="https"、href$=".pdf"、data-state~="active"。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8343900" y="169545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Rectangles 10"/>
          <p:cNvSpPr>
            <a:spLocks noGrp="1"/>
          </p:cNvSpPr>
          <p:nvPr/>
        </p:nvSpPr>
        <p:spPr>
          <a:xfrm>
            <a:off x="8534400" y="18669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结构位置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8534400" y="2209800"/>
            <a:ext cx="2667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:nth-child(even) 与 :nth-of-type(odd) 的差异。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1257300" y="3905250"/>
            <a:ext cx="8572500" cy="1619250"/>
          </a:xfrm>
          <a:prstGeom prst="roundRect">
            <a:avLst>
              <a:gd name="adj" fmla="val 7059"/>
            </a:avLst>
          </a:prstGeom>
          <a:solidFill>
            <a:srgbClr val="0F172B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1524000" y="4171950"/>
            <a:ext cx="80391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.first + .item { ... }</a:t>
            </a:r>
            <a:endParaRPr sz="1275" b="0">
              <a:solidFill>
                <a:srgbClr val="B9F8CF"/>
              </a:solidFill>
            </a:endParaRPr>
          </a:p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.first ~ .item { ... }</a:t>
            </a:r>
            <a:endParaRPr sz="1275" b="0">
              <a:solidFill>
                <a:srgbClr val="B9F8CF"/>
              </a:solidFill>
            </a:endParaRPr>
          </a:p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a[href$=".pdf"]::after { content:" 文件"; }</a:t>
            </a:r>
            <a:endParaRPr sz="1275" b="0">
              <a:solidFill>
                <a:srgbClr val="B9F8CF"/>
              </a:solidFill>
            </a:endParaRPr>
          </a:p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li:nth-child(even) { ... }</a:t>
            </a:r>
            <a:endParaRPr sz="1275" b="0">
              <a:solidFill>
                <a:srgbClr val="B9F8CF"/>
              </a:solidFill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1257300" y="571500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示例页 11-15 节已补充这些完整 HTML + CSS 片段，可直接打开试验场。</a:t>
            </a:r>
            <a:endParaRPr sz="1500" b="0">
              <a:solidFill>
                <a:srgbClr val="45556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685800" y="533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CSS2 / CSS3 教学课件</a:t>
            </a:r>
            <a:endParaRPr sz="1050" b="1">
              <a:solidFill>
                <a:srgbClr val="62748E"/>
              </a:solidFill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685800" y="8953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特异性与层叠决定最终样式</a:t>
            </a:r>
            <a:endParaRPr sz="2700" b="1">
              <a:solidFill>
                <a:srgbClr val="020618"/>
              </a:solidFill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857250" y="1714500"/>
            <a:ext cx="31432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Rectangles 4"/>
          <p:cNvSpPr>
            <a:spLocks noGrp="1"/>
          </p:cNvSpPr>
          <p:nvPr/>
        </p:nvSpPr>
        <p:spPr>
          <a:xfrm>
            <a:off x="1047750" y="18859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优先级大致顺序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1047750" y="2228850"/>
            <a:ext cx="27622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ID &gt; class / 属性 / 伪类 &gt; 元素 / 伪元素。实际还要考虑来源、!important 和出现顺序。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4953000" y="1714500"/>
            <a:ext cx="5810250" cy="2476500"/>
          </a:xfrm>
          <a:prstGeom prst="roundRect">
            <a:avLst>
              <a:gd name="adj" fmla="val 4615"/>
            </a:avLst>
          </a:prstGeom>
          <a:solidFill>
            <a:srgbClr val="0F172B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219700" y="1981200"/>
            <a:ext cx="527685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p { color: #34495e; }</a:t>
            </a:r>
            <a:endParaRPr sz="1275" b="0">
              <a:solidFill>
                <a:srgbClr val="B9F8CF"/>
              </a:solidFill>
            </a:endParaRPr>
          </a:p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.message { color: #27ae60; }</a:t>
            </a:r>
            <a:endParaRPr sz="1275" b="0">
              <a:solidFill>
                <a:srgbClr val="B9F8CF"/>
              </a:solidFill>
            </a:endParaRPr>
          </a:p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#priority { color: #e74c3c; }</a:t>
            </a:r>
            <a:endParaRPr sz="1275" b="0">
              <a:solidFill>
                <a:srgbClr val="B9F8CF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914400" y="495300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314158"/>
                </a:solidFill>
              </a:defRPr>
            </a:pPr>
            <a:r>
              <a:rPr sz="1650" b="1">
                <a:solidFill>
                  <a:srgbClr val="314158"/>
                </a:solidFill>
              </a:rPr>
              <a:t>练习：让学生删除 id 规则、调整规则顺序，观察最终颜色如何变化。</a:t>
            </a:r>
            <a:endParaRPr sz="1650" b="1">
              <a:solidFill>
                <a:srgbClr val="31415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685800" y="533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CSS2 / CSS3 教学课件</a:t>
            </a:r>
            <a:endParaRPr sz="1050" b="1">
              <a:solidFill>
                <a:srgbClr val="62748E"/>
              </a:solidFill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685800" y="8953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盒模型解释了“为什么宽度不等于视觉宽度”</a:t>
            </a:r>
            <a:endParaRPr sz="2700" b="1">
              <a:solidFill>
                <a:srgbClr val="020618"/>
              </a:solidFill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762000" y="1695450"/>
            <a:ext cx="4000500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Rectangles 4"/>
          <p:cNvSpPr>
            <a:spLocks noGrp="1"/>
          </p:cNvSpPr>
          <p:nvPr/>
        </p:nvSpPr>
        <p:spPr>
          <a:xfrm>
            <a:off x="952500" y="186690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课堂重点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952500" y="2209800"/>
            <a:ext cx="36195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默认 content-box 下，width 只代表内容区；border-box 更适合现代页面排版。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5143500" y="1695450"/>
            <a:ext cx="6191250" cy="3429000"/>
          </a:xfrm>
          <a:prstGeom prst="roundRect">
            <a:avLst>
              <a:gd name="adj" fmla="val 3333"/>
            </a:avLst>
          </a:prstGeom>
          <a:solidFill>
            <a:srgbClr val="0F172B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410200" y="1962150"/>
            <a:ext cx="565785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box-sizing: border-box;</a:t>
            </a:r>
            <a:endParaRPr sz="1275" b="0">
              <a:solidFill>
                <a:srgbClr val="B9F8CF"/>
              </a:solidFill>
            </a:endParaRPr>
          </a:p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width: 220px;</a:t>
            </a:r>
            <a:endParaRPr sz="1275" b="0">
              <a:solidFill>
                <a:srgbClr val="B9F8CF"/>
              </a:solidFill>
            </a:endParaRPr>
          </a:p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padding: 24px;</a:t>
            </a:r>
            <a:endParaRPr sz="1275" b="0">
              <a:solidFill>
                <a:srgbClr val="B9F8CF"/>
              </a:solidFill>
            </a:endParaRPr>
          </a:p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border: 6px solid #27ae60;</a:t>
            </a:r>
            <a:endParaRPr sz="1275" b="0">
              <a:solidFill>
                <a:srgbClr val="B9F8CF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19150" y="5334000"/>
            <a:ext cx="952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让学生在试验场修改 padding 与 border，观察两种盒模型的差异。</a:t>
            </a:r>
            <a:endParaRPr sz="1500" b="0">
              <a:solidFill>
                <a:srgbClr val="45556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685800" y="533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CSS2 / CSS3 教学课件</a:t>
            </a:r>
            <a:endParaRPr sz="1050" b="1">
              <a:solidFill>
                <a:srgbClr val="62748E"/>
              </a:solidFill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685800" y="8953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Flex 解决一维分布，Grid 解决二维网格</a:t>
            </a:r>
            <a:endParaRPr sz="2700" b="1">
              <a:solidFill>
                <a:srgbClr val="020618"/>
              </a:solidFill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762000" y="1695450"/>
            <a:ext cx="4000500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Rectangles 4"/>
          <p:cNvSpPr>
            <a:spLocks noGrp="1"/>
          </p:cNvSpPr>
          <p:nvPr/>
        </p:nvSpPr>
        <p:spPr>
          <a:xfrm>
            <a:off x="952500" y="186690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布局判断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952500" y="2209800"/>
            <a:ext cx="36195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导航、按钮组、卡片横排优先考虑 Flex；复杂行列布局优先考虑 Grid。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5143500" y="1695450"/>
            <a:ext cx="6191250" cy="3429000"/>
          </a:xfrm>
          <a:prstGeom prst="roundRect">
            <a:avLst>
              <a:gd name="adj" fmla="val 3333"/>
            </a:avLst>
          </a:prstGeom>
          <a:solidFill>
            <a:srgbClr val="0F172B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410200" y="1962150"/>
            <a:ext cx="565785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display: grid;</a:t>
            </a:r>
            <a:endParaRPr sz="1275" b="0">
              <a:solidFill>
                <a:srgbClr val="B9F8CF"/>
              </a:solidFill>
            </a:endParaRPr>
          </a:p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grid-template-columns: repeat(2, 1fr);</a:t>
            </a:r>
            <a:endParaRPr sz="1275" b="0">
              <a:solidFill>
                <a:srgbClr val="B9F8CF"/>
              </a:solidFill>
            </a:endParaRPr>
          </a:p>
          <a:p>
            <a:pPr>
              <a:buNone/>
              <a:defRPr sz="1275" b="0">
                <a:solidFill>
                  <a:srgbClr val="B9F8CF"/>
                </a:solidFill>
              </a:defRPr>
            </a:pPr>
            <a:r>
              <a:rPr sz="1275" b="0">
                <a:solidFill>
                  <a:srgbClr val="B9F8CF"/>
                </a:solidFill>
              </a:rPr>
              <a:t>gap: 12px;</a:t>
            </a:r>
            <a:endParaRPr sz="1275" b="0">
              <a:solidFill>
                <a:srgbClr val="B9F8CF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19150" y="5334000"/>
            <a:ext cx="952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示例页提供 Flex 与 Grid 两类可运行代码，适合对比主轴和网格轨道。</a:t>
            </a:r>
            <a:endParaRPr sz="1500" b="0">
              <a:solidFill>
                <a:srgbClr val="45556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685800" y="533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CSS2 / CSS3 教学课件</a:t>
            </a:r>
            <a:endParaRPr sz="1050" b="1">
              <a:solidFill>
                <a:srgbClr val="62748E"/>
              </a:solidFill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685800" y="8953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CSS3 让页面更现代，但仍要服务可读性</a:t>
            </a:r>
            <a:endParaRPr sz="2700" b="1">
              <a:solidFill>
                <a:srgbClr val="020618"/>
              </a:solidFill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857250" y="175260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Rectangles 4"/>
          <p:cNvSpPr>
            <a:spLocks noGrp="1"/>
          </p:cNvSpPr>
          <p:nvPr/>
        </p:nvSpPr>
        <p:spPr>
          <a:xfrm>
            <a:off x="1047750" y="19240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变量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1047750" y="2266950"/>
            <a:ext cx="2762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统一管理颜色、间距和主题。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4381500" y="175260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Rectangles 7"/>
          <p:cNvSpPr>
            <a:spLocks noGrp="1"/>
          </p:cNvSpPr>
          <p:nvPr/>
        </p:nvSpPr>
        <p:spPr>
          <a:xfrm>
            <a:off x="4572000" y="19240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圆角阴影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4572000" y="2266950"/>
            <a:ext cx="2762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建立层次，但避免过度装饰。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7905750" y="175260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Rectangles 10"/>
          <p:cNvSpPr>
            <a:spLocks noGrp="1"/>
          </p:cNvSpPr>
          <p:nvPr/>
        </p:nvSpPr>
        <p:spPr>
          <a:xfrm>
            <a:off x="8096250" y="19240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过渡动画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8096250" y="2266950"/>
            <a:ext cx="2762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用状态反馈解释交互。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57250" y="356235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Rectangles 13"/>
          <p:cNvSpPr>
            <a:spLocks noGrp="1"/>
          </p:cNvSpPr>
          <p:nvPr/>
        </p:nvSpPr>
        <p:spPr>
          <a:xfrm>
            <a:off x="1047750" y="373380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媒体查询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1047750" y="4076700"/>
            <a:ext cx="2762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按视口调整布局。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4381500" y="356235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Rectangles 16"/>
          <p:cNvSpPr>
            <a:spLocks noGrp="1"/>
          </p:cNvSpPr>
          <p:nvPr/>
        </p:nvSpPr>
        <p:spPr>
          <a:xfrm>
            <a:off x="4572000" y="373380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滤镜变换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4572000" y="4076700"/>
            <a:ext cx="2762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适合强调，不适合正文信息。</a:t>
            </a:r>
            <a:endParaRPr sz="1125" b="0">
              <a:solidFill>
                <a:srgbClr val="45556C"/>
              </a:solidFill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7905750" y="356235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Rectangles 19"/>
          <p:cNvSpPr>
            <a:spLocks noGrp="1"/>
          </p:cNvSpPr>
          <p:nvPr/>
        </p:nvSpPr>
        <p:spPr>
          <a:xfrm>
            <a:off x="8096250" y="373380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现代伪类</a:t>
            </a:r>
            <a:endParaRPr sz="1425" b="1">
              <a:solidFill>
                <a:srgbClr val="020618"/>
              </a:solidFill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8096250" y="4076700"/>
            <a:ext cx="2762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简化选择器并减少重复。</a:t>
            </a:r>
            <a:endParaRPr sz="1125" b="0">
              <a:solidFill>
                <a:srgbClr val="45556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685800" y="533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CSS2 / CSS3 教学课件</a:t>
            </a:r>
            <a:endParaRPr sz="1050" b="1">
              <a:solidFill>
                <a:srgbClr val="62748E"/>
              </a:solidFill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685800" y="8953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CSS 课后练习应围绕“改 selector 看命中”</a:t>
            </a:r>
            <a:endParaRPr sz="2700" b="1">
              <a:solidFill>
                <a:srgbClr val="020618"/>
              </a:solidFill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1143000" y="1809750"/>
            <a:ext cx="876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修改简单选择器，观察哪些元素被命中。</a:t>
            </a:r>
            <a:endParaRPr sz="1650" b="0">
              <a:solidFill>
                <a:srgbClr val="314158"/>
              </a:solidFill>
            </a:endParaRPr>
          </a:p>
          <a:p>
            <a:pPr>
              <a:buNone/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把后代选择器改成子代选择器。</a:t>
            </a:r>
            <a:endParaRPr sz="1650" b="0">
              <a:solidFill>
                <a:srgbClr val="314158"/>
              </a:solidFill>
            </a:endParaRPr>
          </a:p>
          <a:p>
            <a:pPr>
              <a:buNone/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尝试 ^=、$=、*= 三种属性匹配。</a:t>
            </a:r>
            <a:endParaRPr sz="1650" b="0">
              <a:solidFill>
                <a:srgbClr val="314158"/>
              </a:solidFill>
            </a:endParaRPr>
          </a:p>
          <a:p>
            <a:pPr>
              <a:buNone/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把 :nth-child(even) 改成 :nth-of-type(odd)。</a:t>
            </a:r>
            <a:endParaRPr sz="1650" b="0">
              <a:solidFill>
                <a:srgbClr val="314158"/>
              </a:solidFill>
            </a:endParaRPr>
          </a:p>
          <a:p>
            <a:pPr>
              <a:buNone/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使用 :not() 排除元素，用 :has() 选择父级。</a:t>
            </a:r>
            <a:endParaRPr sz="1650" b="0">
              <a:solidFill>
                <a:srgbClr val="314158"/>
              </a:solidFill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1143000" y="5429250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45556C"/>
                </a:solidFill>
              </a:defRPr>
            </a:pPr>
            <a:r>
              <a:rPr sz="1650" b="1">
                <a:solidFill>
                  <a:srgbClr val="45556C"/>
                </a:solidFill>
              </a:rPr>
              <a:t>建议课堂节奏：先看示例页，再点击每段代码进入试验场修改参数。</a:t>
            </a:r>
            <a:endParaRPr sz="1650" b="1">
              <a:solidFill>
                <a:srgbClr val="45556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CSS2 / CSS3 教学课件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80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颜色与背景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CSS 颜色值、文本颜色、背景色、透明度与渐变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57200" y="1828800"/>
            <a:ext cx="8229600" cy="3840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914400" y="20116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buNone/>
              <a:defRPr sz="18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颜色名称 — 140+ 预定义英文名 (Tomato, DodgerBlue…)</a:t>
            </a:r>
          </a:p>
          <a:p>
            <a:pPr>
              <a:spcAft>
                <a:spcPts val="720"/>
              </a:spcAft>
              <a:buNone/>
              <a:defRPr sz="18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HEX 十六进制 — #RRGGBB 或简写 #RGB</a:t>
            </a:r>
          </a:p>
          <a:p>
            <a:pPr>
              <a:spcAft>
                <a:spcPts val="720"/>
              </a:spcAft>
              <a:buNone/>
              <a:defRPr sz="18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RGB / RGBA — rgb(255,0,0) / rgba(255,0,0,0.5)</a:t>
            </a:r>
          </a:p>
          <a:p>
            <a:pPr>
              <a:spcAft>
                <a:spcPts val="720"/>
              </a:spcAft>
              <a:buNone/>
              <a:defRPr sz="18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HSL / HSLA — 色相·饱和度·亮度 / 加透明度</a:t>
            </a:r>
          </a:p>
          <a:p>
            <a:pPr>
              <a:spcAft>
                <a:spcPts val="720"/>
              </a:spcAft>
              <a:buNone/>
              <a:defRPr sz="18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background-color — 背景色</a:t>
            </a:r>
          </a:p>
          <a:p>
            <a:pPr>
              <a:spcAft>
                <a:spcPts val="720"/>
              </a:spcAft>
              <a:buNone/>
              <a:defRPr sz="18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opacity — 元素整体透明度</a:t>
            </a:r>
          </a:p>
          <a:p>
            <a:pPr>
              <a:spcAft>
                <a:spcPts val="720"/>
              </a:spcAft>
              <a:buNone/>
              <a:defRPr sz="18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linear-gradient / radial-gradient — 渐变背景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CSS2 / CSS3 教学课件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80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1. CSS 颜色名称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140+ 预定义颜色名，直接用英文单词指定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57200" y="1828800"/>
            <a:ext cx="914400" cy="82296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45720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Tomato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508760" y="1828800"/>
            <a:ext cx="914400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150876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Orange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2560320" y="1828800"/>
            <a:ext cx="914400" cy="8229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256032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DodgerBlue</a:t>
            </a: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611879" y="1828800"/>
            <a:ext cx="914400" cy="82296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3611879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MediumSeaGreen</a:t>
            </a: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663440" y="1828800"/>
            <a:ext cx="914400" cy="8229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466344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Gray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715000" y="1828800"/>
            <a:ext cx="914400" cy="8229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571500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SlateBlue</a:t>
            </a: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766559" y="1828800"/>
            <a:ext cx="914400" cy="822960"/>
          </a:xfrm>
          <a:prstGeom prst="rect">
            <a:avLst/>
          </a:prstGeom>
          <a:solidFill>
            <a:srgbClr val="EE8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6766559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Violet</a:t>
            </a: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818119" y="1828800"/>
            <a:ext cx="914400" cy="82296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7818119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HotPink</a:t>
            </a: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457200" y="3291840"/>
            <a:ext cx="822960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731520" y="347472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buNone/>
              <a:defRPr sz="1600" b="0">
                <a:solidFill>
                  <a:srgbClr val="D4D4D4"/>
                </a:solidFill>
                <a:latin typeface="微软雅黑"/>
                <a:ea typeface="微软雅黑"/>
                <a:cs typeface="微软雅黑"/>
              </a:defRPr>
            </a:pPr>
            <a:r>
              <a:t>p { color: Tomato; }</a:t>
            </a:r>
          </a:p>
          <a:p>
            <a:pPr>
              <a:spcAft>
                <a:spcPts val="640"/>
              </a:spcAft>
              <a:buNone/>
              <a:defRPr sz="1600" b="0">
                <a:solidFill>
                  <a:srgbClr val="D4D4D4"/>
                </a:solidFill>
                <a:latin typeface="微软雅黑"/>
                <a:ea typeface="微软雅黑"/>
                <a:cs typeface="微软雅黑"/>
              </a:defRPr>
            </a:pPr>
            <a:r>
              <a:t>div { background-color: DodgerBlue; }</a:t>
            </a:r>
          </a:p>
          <a:p>
            <a:pPr>
              <a:spcAft>
                <a:spcPts val="640"/>
              </a:spcAft>
              <a:buNone/>
              <a:defRPr sz="1600" b="0">
                <a:solidFill>
                  <a:srgbClr val="D4D4D4"/>
                </a:solidFill>
                <a:latin typeface="微软雅黑"/>
                <a:ea typeface="微软雅黑"/>
                <a:cs typeface="微软雅黑"/>
              </a:defRPr>
            </a:pPr>
            <a:r>
              <a:t>span { border-color: MediumSeaGreen;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CSS2 / CSS3 教学课件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80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2. HEX 十六进制颜色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#RRGGBB（6位）或 #RGB（3位简写）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buNone/>
              <a:defRPr sz="17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#FF0000 — 纯红        #00FF00 — 纯绿        #0000FF — 纯蓝</a:t>
            </a:r>
          </a:p>
          <a:p>
            <a:pPr>
              <a:spcAft>
                <a:spcPts val="680"/>
              </a:spcAft>
              <a:buNone/>
              <a:defRPr sz="17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#333    — 深灰（简写）  #3498db — 天蓝        #f1c40f — 金黄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57200" y="2743200"/>
            <a:ext cx="1234440" cy="10972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57200" y="39319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#FF0000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874519" y="2743200"/>
            <a:ext cx="1234440" cy="109728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1874519" y="39319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#00FF00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291840" y="2743200"/>
            <a:ext cx="1234440" cy="10972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291840" y="39319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#0000FF</a:t>
            </a: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709160" y="2743200"/>
            <a:ext cx="1234440" cy="1097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4709160" y="39319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#333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126480" y="2743200"/>
            <a:ext cx="123444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6126480" y="39319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#3498db</a:t>
            </a: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543800" y="2743200"/>
            <a:ext cx="1234440" cy="10972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7543800" y="39319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#f1c40f</a:t>
            </a: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731520" y="466344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buNone/>
              <a:defRPr sz="1600" b="0">
                <a:solidFill>
                  <a:srgbClr val="D4D4D4"/>
                </a:solidFill>
                <a:latin typeface="微软雅黑"/>
                <a:ea typeface="微软雅黑"/>
                <a:cs typeface="微软雅黑"/>
              </a:defRPr>
            </a:pPr>
            <a:r>
              <a:t>div { background: #3498db; }</a:t>
            </a:r>
          </a:p>
          <a:p>
            <a:pPr>
              <a:spcAft>
                <a:spcPts val="640"/>
              </a:spcAft>
              <a:buNone/>
              <a:defRPr sz="1600" b="0">
                <a:solidFill>
                  <a:srgbClr val="D4D4D4"/>
                </a:solidFill>
                <a:latin typeface="微软雅黑"/>
                <a:ea typeface="微软雅黑"/>
                <a:cs typeface="微软雅黑"/>
              </a:defRPr>
            </a:pPr>
            <a:r>
              <a:t>p { color: #e74c3c;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CSS2 / CSS3 教学课件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80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3. RGB 与 RGBA 颜色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rgb(红,绿,蓝) 0–255；RGBA 第四个参数是透明度 0–1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57200" y="1828800"/>
            <a:ext cx="3931920" cy="3840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31520" y="20116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  <a:def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rgb(255,0,0)    — 纯红</a:t>
            </a:r>
          </a:p>
          <a:p>
            <a:pPr>
              <a:spcAft>
                <a:spcPts val="600"/>
              </a:spcAft>
              <a:buNone/>
              <a:def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rgb(0,255,0)    — 纯绿</a:t>
            </a:r>
          </a:p>
          <a:p>
            <a:pPr>
              <a:spcAft>
                <a:spcPts val="600"/>
              </a:spcAft>
              <a:buNone/>
              <a:def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rgb(0,0,255)    — 纯蓝</a:t>
            </a:r>
          </a:p>
          <a:p>
            <a:pPr>
              <a:spcAft>
                <a:spcPts val="600"/>
              </a:spcAft>
              <a:buNone/>
              <a:def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rgb(255,165,0)  — 橙色</a:t>
            </a:r>
          </a:p>
          <a:p>
            <a:pPr>
              <a:spcAft>
                <a:spcPts val="600"/>
              </a:spcAft>
              <a:buNone/>
              <a:def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rgb(128,0,128)  — 紫色</a:t>
            </a:r>
          </a:p>
          <a:p>
            <a:pPr>
              <a:spcAft>
                <a:spcPts val="600"/>
              </a:spcAft>
              <a:buNone/>
              <a:def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</a:p>
          <a:p>
            <a:pPr>
              <a:spcAft>
                <a:spcPts val="600"/>
              </a:spcAft>
              <a:buNone/>
              <a:def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rgba(255,0,0,0.5) — 半透明红</a:t>
            </a:r>
          </a:p>
          <a:p>
            <a:pPr>
              <a:spcAft>
                <a:spcPts val="600"/>
              </a:spcAft>
              <a:buNone/>
              <a:def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rgba(0,0,255,0.3) — 30% 蓝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754880" y="1828800"/>
            <a:ext cx="3931920" cy="3840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937760" y="2194560"/>
            <a:ext cx="64008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4937760" y="3566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1.0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687568" y="2194560"/>
            <a:ext cx="64008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5687568" y="3566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0.75</a:t>
            </a: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437376" y="2194560"/>
            <a:ext cx="64008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437376" y="3566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0.5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187184" y="2194560"/>
            <a:ext cx="64008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7187184" y="3566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0.25</a:t>
            </a: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936992" y="2194560"/>
            <a:ext cx="64008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7936992" y="3566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0.1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493776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opacity 属性控制整个元素透明度</a:t>
            </a: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4937760" y="4572000"/>
            <a:ext cx="91440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4937760" y="4617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opacity: 1</a:t>
            </a: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035040" y="4572000"/>
            <a:ext cx="91440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035040" y="4617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opacity: 0.5</a:t>
            </a: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132320" y="4572000"/>
            <a:ext cx="91440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7132320" y="4617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opacity: 0.2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CSS2 / CSS3 教学课件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80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4. HSL 与 HSLA 颜色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hsl(色相, 饱和度%, 亮度%) — 色相 0–360 环形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buNone/>
              <a:def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色相 (Hue): 0°红 → 60°黄 → 120°绿 → 200°蓝 → 270°紫 → 360°红</a:t>
            </a:r>
          </a:p>
          <a:p>
            <a:pPr>
              <a:spcAft>
                <a:spcPts val="640"/>
              </a:spcAft>
              <a:buNone/>
              <a:def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饱和度 (Saturation): 0% 灰 → 100% 纯色</a:t>
            </a:r>
          </a:p>
          <a:p>
            <a:pPr>
              <a:spcAft>
                <a:spcPts val="640"/>
              </a:spcAft>
              <a:buNone/>
              <a:def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亮度 (Lightness): 0% 黑 → 50% 纯色 → 100% 白</a:t>
            </a:r>
          </a:p>
          <a:p>
            <a:pPr>
              <a:spcAft>
                <a:spcPts val="640"/>
              </a:spcAft>
              <a:buNone/>
              <a:def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HSLA: 第四个参数 = 透明度 0–1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57200" y="3474720"/>
            <a:ext cx="1508760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57200" y="44805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hsl(0,100%,50%)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2148840" y="3474720"/>
            <a:ext cx="1508760" cy="914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2148840" y="44805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hsl(60,100%,50%)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840480" y="3474720"/>
            <a:ext cx="1508760" cy="9144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840480" y="44805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hsl(120,100%,50%)</a:t>
            </a: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532120" y="3474720"/>
            <a:ext cx="1508760" cy="91440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5532120" y="44805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hsl(200,100%,50%)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223760" y="3474720"/>
            <a:ext cx="1508760" cy="914400"/>
          </a:xfrm>
          <a:prstGeom prst="rect">
            <a:avLst/>
          </a:prstGeom>
          <a:solidFill>
            <a:srgbClr val="8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7223760" y="44805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t>hsl(270,100%,50%)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73152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同一色相不同亮度 (hsl(210,100%,…)):</a:t>
            </a: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57200" y="5303520"/>
            <a:ext cx="1508760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2148840" y="5303520"/>
            <a:ext cx="1508760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3840480" y="5303520"/>
            <a:ext cx="1508760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532120" y="5303520"/>
            <a:ext cx="1508760" cy="548640"/>
          </a:xfrm>
          <a:prstGeom prst="rect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223760" y="5303520"/>
            <a:ext cx="1508760" cy="5486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CSS2 / CSS3 教学课件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80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5. 背景色与文本颜色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background-color 设置背景；color 设置文本前景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57200" y="1828800"/>
            <a:ext cx="3931920" cy="3840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3152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800" b="1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t>background-color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31520" y="23774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buNone/>
              <a:defRPr sz="14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background-color: lightblue;</a:t>
            </a:r>
          </a:p>
          <a:p>
            <a:pPr>
              <a:spcAft>
                <a:spcPts val="560"/>
              </a:spcAft>
              <a:buNone/>
              <a:defRPr sz="14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background-color: #ff6347;</a:t>
            </a:r>
          </a:p>
          <a:p>
            <a:pPr>
              <a:spcAft>
                <a:spcPts val="560"/>
              </a:spcAft>
              <a:buNone/>
              <a:defRPr sz="14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background-color: rgb(46,204,113);</a:t>
            </a:r>
          </a:p>
          <a:p>
            <a:pPr>
              <a:spcAft>
                <a:spcPts val="560"/>
              </a:spcAft>
              <a:buNone/>
              <a:defRPr sz="14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background-color: rgba(0,0,0,0.1);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31520" y="3840480"/>
            <a:ext cx="3474720" cy="4572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31520" y="3858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lightblue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31520" y="4389120"/>
            <a:ext cx="3474720" cy="45720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731520" y="44074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#ff6347</a:t>
            </a: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31520" y="4937760"/>
            <a:ext cx="347472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731520" y="4956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rgb(46,204,113)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754880" y="1828800"/>
            <a:ext cx="3931920" cy="3840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502920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800" b="1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t>color (文本颜色)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5029200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t>color: #e74c3c — 红色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5029200" y="3154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t>color: #27ae60 — 绿色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029200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3498DB"/>
                </a:solidFill>
                <a:latin typeface="微软雅黑"/>
                <a:ea typeface="微软雅黑"/>
                <a:cs typeface="微软雅黑"/>
              </a:defRPr>
            </a:pPr>
            <a:r>
              <a:t>color: rgb(52,152,219) — 蓝色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5029200" y="4709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7D1F9E"/>
                </a:solidFill>
                <a:latin typeface="微软雅黑"/>
                <a:ea typeface="微软雅黑"/>
                <a:cs typeface="微软雅黑"/>
              </a:defRPr>
            </a:pPr>
            <a:r>
              <a:t>color: hsl(280,80%,40%) — 紫色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CSS2 / CSS3 教学课件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80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6. 线性渐变 linear-gradient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linear-gradient(方向, 颜色1, 颜色2, …)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buNone/>
              <a:def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方向: to right / to bottom right / 135deg</a:t>
            </a:r>
          </a:p>
          <a:p>
            <a:pPr>
              <a:spcAft>
                <a:spcPts val="640"/>
              </a:spcAft>
              <a:buNone/>
              <a:def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可指定多个颜色 stops: red, orange, green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57200" y="2743200"/>
            <a:ext cx="274320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3200400" y="2743200"/>
            <a:ext cx="274320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43600" y="2743200"/>
            <a:ext cx="274320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linear-gradient(to right, #e74c3c, #f39c12, #2ecc71)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57200" y="3749039"/>
            <a:ext cx="4114800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572000" y="3749039"/>
            <a:ext cx="4114800" cy="82296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linear-gradient(135deg, #667eea, #764ba2)</a:t>
            </a: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57200" y="4754880"/>
            <a:ext cx="2743200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200400" y="4754880"/>
            <a:ext cx="2743200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943600" y="4754880"/>
            <a:ext cx="274320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45720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linear-gradient(to bottom, #1a5276, #2980b9, #3498db)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CSS2 / CSS3 教学课件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80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7. 径向渐变 &amp; 综合应用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radial-gradient(circle/ellipse, …) + 实际 UI 组件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800" b="1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t>radial-gradient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31520" y="22860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buNone/>
              <a:def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radial-gradient(circle, #fff, #3498db, #1a5276)</a:t>
            </a:r>
          </a:p>
          <a:p>
            <a:pPr>
              <a:spcAft>
                <a:spcPts val="520"/>
              </a:spcAft>
              <a:buNone/>
              <a:def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radial-gradient(ellipse, #2ecc71, #27ae60, #1a5276)</a:t>
            </a:r>
          </a:p>
          <a:p>
            <a:pPr>
              <a:spcAft>
                <a:spcPts val="520"/>
              </a:spcAft>
              <a:buNone/>
              <a:def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▸ 形状: circle（圆形）/ ellipse（椭圆，默认）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029200" y="182880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029200" y="1828800"/>
            <a:ext cx="3657600" cy="1463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50292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🎨 CSS 颜色实验室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BDC3C7"/>
                </a:solidFill>
                <a:latin typeface="微软雅黑"/>
                <a:ea typeface="微软雅黑"/>
                <a:cs typeface="微软雅黑"/>
              </a:defRPr>
            </a:pPr>
            <a:r>
              <a:t>探索 CSS 颜色的无限可能</a:t>
            </a: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5212080" y="3566160"/>
            <a:ext cx="1005840" cy="9144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5212080" y="3611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t>HEX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5212080" y="39776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8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#FF6347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309360" y="3566160"/>
            <a:ext cx="1005840" cy="914400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6309360" y="3611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t>RGB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309360" y="39776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8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rgb(0,255,0)</a:t>
            </a: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406640" y="3566160"/>
            <a:ext cx="100584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7406640" y="3611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3498DB"/>
                </a:solidFill>
                <a:latin typeface="微软雅黑"/>
                <a:ea typeface="微软雅黑"/>
                <a:cs typeface="微软雅黑"/>
              </a:defRPr>
            </a:pPr>
            <a:r>
              <a:t>HSL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7406640" y="39776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800" b="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t>hsl(200,80%,50%)</a:t>
            </a: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212080" y="4754880"/>
            <a:ext cx="329184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5212080" y="47731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开始探索</a:t>
            </a: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731520" y="3657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t>课堂练习：</a:t>
            </a:r>
            <a:br/>
            <a:r>
              <a:t>• 修改渐变方向和颜色</a:t>
            </a:r>
            <a:br/>
            <a:r>
              <a:t>• 用 rgba() 给卡片加阴影</a:t>
            </a:r>
            <a:br/>
            <a:r>
              <a:t>• 创建自己的渐变按钮</a:t>
            </a:r>
            <a:br/>
            <a:r>
              <a:t>• 用 HSL 调出同色系配色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2200" b="1">
                <a:solidFill>
                  <a:srgbClr val="2980B9"/>
                </a:solidFill>
              </a:defRPr>
            </a:pPr>
            <a:r>
              <a:t>Part A: Flexbox 一维布局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457200" y="164592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  <a:r>
              <a:t>▸ Flexbox 用于一行或一列的方向上排列元素</a:t>
            </a:r>
          </a:p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  <a:r>
              <a:t>▸ 核心概念：主轴 (main axis) + 交叉轴 (cross axis)</a:t>
            </a:r>
          </a:p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  <a:r>
              <a:t>▸ 设置 display: flex 即可创建弹性容器</a:t>
            </a:r>
          </a:p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</a:p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  <a:r>
              <a:t>容器属性：flex-direction / flex-wrap / justify-content / align-items / align-content / gap</a:t>
            </a:r>
          </a:p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  <a:r>
              <a:t>项目属性：flex-grow / flex-shrink / flex-basis / order / align-self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Flex: flex-direction — 主轴方向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row（默认）— 从左到右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row-reverse — 从右到左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column — 从上到下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column-reverse — 从下到上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.container { display: flex; flex-direction: row; }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row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381625" y="2400300"/>
            <a:ext cx="552450" cy="552450"/>
          </a:xfrm>
          <a:prstGeom prst="rect">
            <a:avLst/>
          </a:prstGeom>
          <a:solidFill>
            <a:srgbClr val="E74C3C"/>
          </a:solidFill>
          <a:ln w="0">
            <a:noFill/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381625" y="25622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6124575" y="2400300"/>
            <a:ext cx="552450" cy="5524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6124575" y="25622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6867525" y="2400300"/>
            <a:ext cx="552450" cy="5524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6867525" y="25622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7610475" y="2400300"/>
            <a:ext cx="552450" cy="5524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7610475" y="25622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5219700" y="32385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row-reverse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5381625" y="3695700"/>
            <a:ext cx="552450" cy="5524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5381625" y="38576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6124575" y="3695700"/>
            <a:ext cx="552450" cy="5524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6124575" y="38576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6867525" y="3695700"/>
            <a:ext cx="552450" cy="5524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21" name="Rectangles 20"/>
          <p:cNvSpPr>
            <a:spLocks noGrp="1"/>
          </p:cNvSpPr>
          <p:nvPr/>
        </p:nvSpPr>
        <p:spPr>
          <a:xfrm>
            <a:off x="6867525" y="38576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7610475" y="3695700"/>
            <a:ext cx="552450" cy="552450"/>
          </a:xfrm>
          <a:prstGeom prst="rect">
            <a:avLst/>
          </a:prstGeom>
          <a:solidFill>
            <a:srgbClr val="E74C3C"/>
          </a:solidFill>
          <a:ln w="0">
            <a:noFill/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7610475" y="38576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.container {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display: flex;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flex-direction: row;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Flex: flex-wrap — 换行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nowrap（默认）— 不换行，项目被压缩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wrap — 自动换行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wrap-reverse — 反向换行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flex-flow = flex-direction + flex-wrap 简写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.container { flex-flow: row wrap; }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flex-wrap: wrap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334000" y="2457450"/>
            <a:ext cx="590550" cy="4953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334000" y="26098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item 1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6076950" y="2457450"/>
            <a:ext cx="590550" cy="49530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6076950" y="26098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item 2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6819900" y="2457450"/>
            <a:ext cx="590550" cy="4953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6819900" y="26098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item 3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7562850" y="2457450"/>
            <a:ext cx="590550" cy="495300"/>
          </a:xfrm>
          <a:prstGeom prst="rect">
            <a:avLst/>
          </a:prstGeom>
          <a:solidFill>
            <a:srgbClr val="E74C3C"/>
          </a:solidFill>
          <a:ln w="0">
            <a:noFill/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7562850" y="26098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item 4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5334000" y="3257550"/>
            <a:ext cx="590550" cy="4953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5334000" y="34099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item 5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6076950" y="3257550"/>
            <a:ext cx="590550" cy="49530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6076950" y="34099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item 6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6819900" y="3257550"/>
            <a:ext cx="590550" cy="4953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20" name="Rectangles 19"/>
          <p:cNvSpPr>
            <a:spLocks noGrp="1"/>
          </p:cNvSpPr>
          <p:nvPr/>
        </p:nvSpPr>
        <p:spPr>
          <a:xfrm>
            <a:off x="6819900" y="34099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item 7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7562850" y="3257550"/>
            <a:ext cx="590550" cy="495300"/>
          </a:xfrm>
          <a:prstGeom prst="rect">
            <a:avLst/>
          </a:prstGeom>
          <a:solidFill>
            <a:srgbClr val="E74C3C"/>
          </a:solidFill>
          <a:ln w="0">
            <a:noFill/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7562850" y="34099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item 8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5334000" y="2343150"/>
            <a:ext cx="3028950" cy="1600200"/>
          </a:xfrm>
          <a:prstGeom prst="rect">
            <a:avLst/>
          </a:prstGeom>
          <a:noFill/>
          <a:ln w="11430">
            <a:solidFill>
              <a:srgbClr val="2980B9"/>
            </a:solidFill>
            <a:prstDash val="solid"/>
          </a:ln>
        </p:spPr>
      </p:sp>
      <p:sp>
        <p:nvSpPr>
          <p:cNvPr id="24" name="Rectangles 23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.container {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display: flex;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flex-flow: row wrap;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Flex: justify-content — 主轴对齐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flex-start（默认）— 起点对齐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flex-end — 终点对齐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center — 居中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space-between — 两端对齐，中间均分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space-around — 每项两侧等间距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space-evenly — 所有间距完全相等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.container { justify-content: space-between; }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8288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flex-start</a:t>
            </a:r>
            <a:endParaRPr sz="97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219700" y="2095500"/>
            <a:ext cx="2914650" cy="3048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314950" y="2152650"/>
            <a:ext cx="285750" cy="1905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5734050" y="2152650"/>
            <a:ext cx="285750" cy="19050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6153150" y="2152650"/>
            <a:ext cx="285750" cy="1905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5219700" y="24193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center</a:t>
            </a:r>
            <a:endParaRPr sz="97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5219700" y="2686050"/>
            <a:ext cx="2914650" cy="3048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6229350" y="2743200"/>
            <a:ext cx="285750" cy="1905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6648450" y="2743200"/>
            <a:ext cx="285750" cy="19050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7067550" y="2743200"/>
            <a:ext cx="285750" cy="1905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5219700" y="30099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space-between</a:t>
            </a:r>
            <a:endParaRPr sz="97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5219700" y="3276600"/>
            <a:ext cx="2914650" cy="3048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5314950" y="3333750"/>
            <a:ext cx="285750" cy="1905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6572250" y="3333750"/>
            <a:ext cx="285750" cy="19050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20" name="Rectangles 19"/>
          <p:cNvSpPr>
            <a:spLocks noGrp="1"/>
          </p:cNvSpPr>
          <p:nvPr/>
        </p:nvSpPr>
        <p:spPr>
          <a:xfrm>
            <a:off x="7829550" y="3333750"/>
            <a:ext cx="285750" cy="1905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21" name="Rectangles 20"/>
          <p:cNvSpPr>
            <a:spLocks noGrp="1"/>
          </p:cNvSpPr>
          <p:nvPr/>
        </p:nvSpPr>
        <p:spPr>
          <a:xfrm>
            <a:off x="5219700" y="36004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space-evenly</a:t>
            </a:r>
            <a:endParaRPr sz="97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5219700" y="3867150"/>
            <a:ext cx="2914650" cy="3048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5829300" y="3924300"/>
            <a:ext cx="285750" cy="1905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24" name="Rectangles 23"/>
          <p:cNvSpPr>
            <a:spLocks noGrp="1"/>
          </p:cNvSpPr>
          <p:nvPr/>
        </p:nvSpPr>
        <p:spPr>
          <a:xfrm>
            <a:off x="6572250" y="3924300"/>
            <a:ext cx="285750" cy="19050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7315200" y="3924300"/>
            <a:ext cx="285750" cy="1905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26" name="Rectangles 25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27" name="Rectangles 26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.container {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justify-content: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  space-between;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Flex: align-items — 交叉轴对齐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stretch（默认）— 拉伸填满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center — 居中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flex-start — 起点对齐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flex-end — 终点对齐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baseline — 按文字基线对齐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.container { align-items: center; height: 120px; }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align-items: center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381625" y="2381250"/>
            <a:ext cx="2971800" cy="142875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667375" y="2857500"/>
            <a:ext cx="514350" cy="4762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6448425" y="2667000"/>
            <a:ext cx="514350" cy="8572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7229475" y="2790825"/>
            <a:ext cx="514350" cy="6096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7239000" y="39052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cross axis</a:t>
            </a:r>
            <a:endParaRPr sz="975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.container {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align-items: center;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height: 120px;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Flex: gap / align-content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gap — 项目间距（不会在边缘产生多余间距）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gap: 10px（统一）  |  gap: 20px 8px（行 列）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align-content — 多行对齐（需 flex-wrap: wrap）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stretch | center | space-between | space-around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.container { flex-wrap: wrap; gap: 12px; align-content: center; }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gap controls inner spacing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619750" y="2400300"/>
            <a:ext cx="552450" cy="3619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6381750" y="2400300"/>
            <a:ext cx="552450" cy="3619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7143750" y="2400300"/>
            <a:ext cx="552450" cy="3619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5619750" y="2952750"/>
            <a:ext cx="552450" cy="3619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6381750" y="2952750"/>
            <a:ext cx="552450" cy="3619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7143750" y="2952750"/>
            <a:ext cx="552450" cy="3619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5619750" y="3505200"/>
            <a:ext cx="552450" cy="3619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6381750" y="3505200"/>
            <a:ext cx="552450" cy="3619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7143750" y="3505200"/>
            <a:ext cx="552450" cy="3619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5219700" y="417195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gap: 12px</a:t>
            </a:r>
            <a:endParaRPr sz="1125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.container {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flex-wrap: wrap;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gap: 12px;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Flex: flex 弹性分配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flex = flex-grow + flex-shrink + flex-basis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</a:p>
          <a:p>
            <a:pPr algn="l">
              <a:spcAft>
                <a:spcPts val="500"/>
              </a:spcAft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flex: 1 — 等分空间（grow:1, shrink:1, basis:0%）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flex: none — 不弹性（grow:0, shrink:0, basis:auto）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flex: auto — 完全弹性（grow:1, shrink:1, basis:auto）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</a:p>
          <a:p>
            <a:pPr algn="l">
              <a:spcAft>
                <a:spcPts val="500"/>
              </a:spcAft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order — 改变视觉顺序（默认 0，越小越靠前）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align-self — 单个项目覆盖 align-items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.a { flex: 1; }  .b { flex: 2; }  .c { order: -1; }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flex: 1 2 1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334000" y="2476500"/>
            <a:ext cx="3048000" cy="78105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448300" y="2628900"/>
            <a:ext cx="723900" cy="4762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6286500" y="2628900"/>
            <a:ext cx="1333500" cy="4762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7734300" y="2628900"/>
            <a:ext cx="533400" cy="4762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5448300" y="278130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6286500" y="27813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7734300" y="27813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5219700" y="371475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order: -1 can move an item first</a:t>
            </a:r>
            <a:endParaRPr sz="1125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.a { flex: 1; 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.b { flex: 2; 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.c { order: -1; 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Part B: Grid 二维布局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Grid 同时控制行和列，适合复杂页面布局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设置 display: grid 创建网格容器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通过 grid-template-columns / rows 定义网格结构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容器属性：grid-template-columns / rows / areas / gap / justify-content / align-content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项目属性：grid-column / grid-row / grid-area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Grid controls rows and columns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381625" y="238125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6067425" y="238125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6753225" y="238125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7439025" y="238125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5381625" y="293370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6067425" y="293370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6753225" y="293370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7439025" y="293370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5381625" y="348615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6067425" y="348615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6753225" y="348615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7439025" y="3486150"/>
            <a:ext cx="552450" cy="4191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5381625" y="2381250"/>
            <a:ext cx="1238250" cy="9715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20" name="Rectangles 19"/>
          <p:cNvSpPr>
            <a:spLocks noGrp="1"/>
          </p:cNvSpPr>
          <p:nvPr/>
        </p:nvSpPr>
        <p:spPr>
          <a:xfrm>
            <a:off x="5381625" y="27813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area</a:t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.grid {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display: grid;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grid-template-columns: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  repeat(4, 1fr);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Grid: 基本网格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grid-template-columns — 定义列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grid-template-rows — 定义行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repeat(3, 1fr) — 3 列等分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gap — 网格间距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.grid {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display: grid;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grid-template-columns: repeat(3, 1fr);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gap: 12px;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repeat(3, 1fr)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619750" y="2400300"/>
            <a:ext cx="666750" cy="4381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6438900" y="2400300"/>
            <a:ext cx="666750" cy="4381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7258050" y="2400300"/>
            <a:ext cx="666750" cy="4381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5619750" y="2990850"/>
            <a:ext cx="666750" cy="4381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6438900" y="2990850"/>
            <a:ext cx="666750" cy="4381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7258050" y="2990850"/>
            <a:ext cx="666750" cy="4381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5619750" y="3581400"/>
            <a:ext cx="666750" cy="4381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6438900" y="3581400"/>
            <a:ext cx="666750" cy="4381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7258050" y="3581400"/>
            <a:ext cx="666750" cy="4381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.grid {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grid-template-columns: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  repeat(3, 1fr);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gap: 12px;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Grid: 不等宽列 + 跨列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grid-template-columns: 200px 1fr 1fr — 固定+自适应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grid-column: span 2 — 跨 2 列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grid-row: span 2 — 跨 2 行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.grid { grid-template-columns: 200px 1fr 1fr; }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.sidebar { grid-row: span 2; }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.main { grid-column: span 2; }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fixed column + span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334000" y="2400300"/>
            <a:ext cx="876300" cy="1524000"/>
          </a:xfrm>
          <a:prstGeom prst="rect">
            <a:avLst/>
          </a:prstGeom>
          <a:solidFill>
            <a:srgbClr val="1A5276"/>
          </a:solidFill>
          <a:ln w="0">
            <a:noFill/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6343650" y="2400300"/>
            <a:ext cx="2038350" cy="6858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6343650" y="3238500"/>
            <a:ext cx="933450" cy="68580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7429500" y="3238500"/>
            <a:ext cx="952500" cy="6858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5334000" y="3048000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sidebar</a:t>
            </a:r>
            <a:endParaRPr sz="9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6343650" y="2647950"/>
            <a:ext cx="2038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span 2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.main {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grid-column: span 2;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.sidebar { grid-row: span 2; 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Grid: grid-template-areas 命名区域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用 grid-area 给项目命名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用 grid-template-areas 定义布局模板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用 . 表示空单元格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.grid {</a:t>
            </a:r>
            <a:b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grid-template-areas:</a:t>
            </a:r>
            <a:b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  'header header header'</a:t>
            </a:r>
            <a:b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  'sidebar main main'</a:t>
            </a:r>
            <a:b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  'footer footer footer';</a:t>
            </a:r>
            <a:b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}</a:t>
            </a:r>
            <a:b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.header  { grid-area: header; }</a:t>
            </a:r>
            <a:b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.sidebar { grid-area: sidebar; }</a:t>
            </a:r>
            <a:b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.main    { grid-area: main; }</a:t>
            </a:r>
            <a:b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01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.footer  { grid-area: footer; }</a:t>
            </a:r>
            <a:endParaRPr sz="101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grid-template-areas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334000" y="2400300"/>
            <a:ext cx="3048000" cy="457200"/>
          </a:xfrm>
          <a:prstGeom prst="rect">
            <a:avLst/>
          </a:prstGeom>
          <a:solidFill>
            <a:srgbClr val="1A5276"/>
          </a:solidFill>
          <a:ln w="0">
            <a:noFill/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334000" y="2990850"/>
            <a:ext cx="876300" cy="9334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6343650" y="2990850"/>
            <a:ext cx="2038350" cy="93345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5334000" y="4057650"/>
            <a:ext cx="3048000" cy="4191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5334000" y="253365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header</a:t>
            </a:r>
            <a:endParaRPr sz="9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5334000" y="3371850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sidebar</a:t>
            </a:r>
            <a:endParaRPr sz="9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6343650" y="3371850"/>
            <a:ext cx="2038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main</a:t>
            </a:r>
            <a:endParaRPr sz="9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5334000" y="417195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footer</a:t>
            </a:r>
            <a:endParaRPr sz="9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Grid: 对齐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justify-content — 网格整体水平对齐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align-content — 网格整体垂直对齐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justify-items — 项目在单元格内水平对齐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align-items — 项目在单元格内垂直对齐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justify-self / align-self — 单个项目覆盖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.grid {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justify-content: center;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align-content: center;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justify-items: center;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align-items: center;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content vs item alignment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381625" y="2381250"/>
            <a:ext cx="2952750" cy="180975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943600" y="2876550"/>
            <a:ext cx="323850" cy="2667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6496050" y="2876550"/>
            <a:ext cx="323850" cy="26670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7048500" y="2876550"/>
            <a:ext cx="323850" cy="2667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5943600" y="3352800"/>
            <a:ext cx="323850" cy="2667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6496050" y="3352800"/>
            <a:ext cx="323850" cy="26670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7048500" y="3352800"/>
            <a:ext cx="323850" cy="26670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5219700" y="43053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justify-items / align-items</a:t>
            </a:r>
            <a:endParaRPr sz="105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.grid {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justify-items: center;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align-items: center;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Part C: Flex vs Grid 对比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7247890" y="1628775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7536180" y="196215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Choose by layout dimension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7650480" y="2476500"/>
            <a:ext cx="1352550" cy="158115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9345930" y="2476500"/>
            <a:ext cx="1352550" cy="158115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7650480" y="26670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Flex</a:t>
            </a:r>
            <a:endParaRPr sz="16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7793355" y="3105150"/>
            <a:ext cx="1066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one axis</a:t>
            </a:r>
            <a:endParaRPr sz="112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content first</a:t>
            </a:r>
            <a:endParaRPr sz="112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nav / cards</a:t>
            </a:r>
            <a:endParaRPr sz="112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9345930" y="26670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Grid</a:t>
            </a:r>
            <a:endParaRPr sz="1650">
              <a:solidFill>
                <a:srgbClr val="27AE6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9488805" y="3105150"/>
            <a:ext cx="1066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two axes</a:t>
            </a:r>
            <a:endParaRPr sz="112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layout first</a:t>
            </a:r>
            <a:endParaRPr sz="112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pages / dashboards</a:t>
            </a:r>
            <a:endParaRPr sz="112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3" name="Table 12"/>
          <p:cNvGraphicFramePr/>
          <p:nvPr>
            <p:custDataLst>
              <p:tags r:id="rId1"/>
            </p:custDataLst>
          </p:nvPr>
        </p:nvGraphicFramePr>
        <p:xfrm>
          <a:off x="551180" y="1557020"/>
          <a:ext cx="6551930" cy="4449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540"/>
                <a:gridCol w="2276475"/>
                <a:gridCol w="2875915"/>
              </a:tblGrid>
              <a:tr h="48133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80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Flex </a:t>
                      </a:r>
                      <a:endParaRPr lang="en-US" sz="1800">
                        <a:solidFill>
                          <a:schemeClr val="bg1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spcAft>
                          <a:spcPts val="500"/>
                        </a:spcAft>
                        <a:buNone/>
                        <a:defRPr sz="865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 Grid</a:t>
                      </a:r>
                      <a:endParaRPr lang="en-US" sz="1800">
                        <a:solidFill>
                          <a:schemeClr val="bg1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</a:tr>
              <a:tr h="314960"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维度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一维（行或列）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二维（行+列）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</a:tr>
              <a:tr h="543560"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思维方式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内容优先，自适应 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布局优先，定义结构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</a:tr>
              <a:tr h="1009015"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对齐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justify-content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align-items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align-self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align-content 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justify-content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align-items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 justify-items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justify-content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</a:tr>
              <a:tr h="776605"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项目定位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flex-grow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shrink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basis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grid-column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grid-row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</a:tr>
              <a:tr h="314325"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间距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gap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gap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</a:tr>
              <a:tr h="1009650"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适用场景</a:t>
                      </a:r>
                      <a:endParaRPr lang="en-US"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导航栏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按钮组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卡片横排</a:t>
                      </a:r>
                      <a:endParaRPr lang="en-US" sz="1400"/>
                    </a:p>
                    <a:p>
                      <a:pPr algn="l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页面整体布局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仪表盘</a:t>
                      </a:r>
                      <a:endParaRPr sz="140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sz="140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画廊</a:t>
                      </a:r>
                      <a:endParaRPr lang="en-US" sz="1400"/>
                    </a:p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Flex vs Grid: 何时选择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选 Flex 的场景：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• 导航栏、工具栏、按钮组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• 卡片横排、列表项分布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• 内容高度不确定的垂直居中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• 需要内容自适应的简单排列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500"/>
              </a:spcAft>
              <a:buNone/>
              <a:defRPr sz="1300">
                <a:solidFill>
                  <a:srgbClr val="27313F"/>
                </a:solidFill>
              </a:defRPr>
            </a:p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▸ 选 Grid 的场景：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• 整页布局（header/sidebar/main/footer）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• 仪表盘、画廊、日历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• 需要精确控制行列位置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• 不规则布局（跨行跨列）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2095500"/>
            <a:ext cx="1524000" cy="20955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7" name="Rectangles 6"/>
          <p:cNvSpPr>
            <a:spLocks noGrp="1"/>
          </p:cNvSpPr>
          <p:nvPr/>
        </p:nvSpPr>
        <p:spPr>
          <a:xfrm>
            <a:off x="6953250" y="2095500"/>
            <a:ext cx="1524000" cy="209550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219700" y="23431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Use Flex</a:t>
            </a:r>
            <a:endParaRPr sz="1575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5410200" y="291465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items flow in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one direction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6953250" y="23431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Use Grid</a:t>
            </a:r>
            <a:endParaRPr sz="1575">
              <a:solidFill>
                <a:srgbClr val="27AE6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7143750" y="291465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you need rows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and columns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Flex: component layout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Grid: page layout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综合练习: Flex 导航栏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左侧 Logo + 右侧导航链接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使用 justify-content: space-between 实现两端对齐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.navbar {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display: flex;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align-items: center;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justify-content: space-between;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background: #1a5276;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padding: 12px 20px;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space-between navbar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334000" y="2571750"/>
            <a:ext cx="3048000" cy="609600"/>
          </a:xfrm>
          <a:prstGeom prst="rect">
            <a:avLst/>
          </a:prstGeom>
          <a:solidFill>
            <a:srgbClr val="1A5276"/>
          </a:solidFill>
          <a:ln w="0">
            <a:noFill/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524500" y="27813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LOGO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6724650" y="27813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Home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7239000" y="27813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Docs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7753350" y="27813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About</a:t>
            </a:r>
            <a:endParaRPr sz="9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5029200" y="4591050"/>
            <a:ext cx="3657600" cy="952500"/>
          </a:xfrm>
          <a:prstGeom prst="rect">
            <a:avLst/>
          </a:prstGeom>
          <a:solidFill>
            <a:srgbClr val="1E1E1E"/>
          </a:solidFill>
          <a:ln w="0">
            <a:noFill/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5219700" y="4743450"/>
            <a:ext cx="3276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.navbar {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display: flex;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justify-content: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    space-between;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>
                <a:solidFill>
                  <a:srgbClr val="E8E8E8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>}</a:t>
            </a:r>
            <a:endParaRPr sz="1050">
              <a:solidFill>
                <a:srgbClr val="E8E8E8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457200" y="685800"/>
            <a:ext cx="81915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综合练习: Grid 页面布局</a:t>
            </a:r>
            <a:endParaRPr sz="2550" b="1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52450" y="1695450"/>
            <a:ext cx="40005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经典三栏布局：header + sidebar + main + footer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500"/>
              </a:spcAft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使用 grid-template-areas 命名区域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Bef>
                <a:spcPts val="1000"/>
              </a:spcBef>
              <a:buNone/>
              <a:def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.page {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display: grid;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grid-template-areas: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  'header header'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  'sidebar main'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  'footer footer';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grid-template-columns: 200px 1fr;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 gap: 12px;</a:t>
            </a:r>
            <a:b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</a:br>
            <a:r>
              <a:rPr sz="12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20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7F8C8D"/>
                </a:solidFill>
                <a:latin typeface="微软雅黑"/>
                <a:ea typeface="微软雅黑"/>
                <a:cs typeface="微软雅黑"/>
              </a:rPr>
              <a:t>CSS2 / CSS3 教学课件</a:t>
            </a:r>
            <a:endParaRPr sz="1200">
              <a:solidFill>
                <a:srgbClr val="7F8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5029200" y="1695450"/>
            <a:ext cx="3657600" cy="3848100"/>
          </a:xfrm>
          <a:prstGeom prst="rect">
            <a:avLst/>
          </a:prstGeom>
          <a:solidFill>
            <a:srgbClr val="F8FAFB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5219700" y="19431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980B9"/>
                </a:solidFill>
                <a:latin typeface="微软雅黑"/>
                <a:ea typeface="微软雅黑"/>
                <a:cs typeface="微软雅黑"/>
              </a:rPr>
              <a:t>classic page grid</a:t>
            </a:r>
            <a:endParaRPr sz="1350">
              <a:solidFill>
                <a:srgbClr val="2980B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5334000" y="2400300"/>
            <a:ext cx="3048000" cy="476250"/>
          </a:xfrm>
          <a:prstGeom prst="rect">
            <a:avLst/>
          </a:prstGeom>
          <a:solidFill>
            <a:srgbClr val="1A5276"/>
          </a:solidFill>
          <a:ln w="0">
            <a:noFill/>
            <a:prstDash val="solid"/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5334000" y="3009900"/>
            <a:ext cx="838200" cy="1085850"/>
          </a:xfrm>
          <a:prstGeom prst="rect">
            <a:avLst/>
          </a:prstGeom>
          <a:solidFill>
            <a:srgbClr val="27AE60"/>
          </a:solidFill>
          <a:ln w="0">
            <a:noFill/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6305550" y="3009900"/>
            <a:ext cx="2076450" cy="1085850"/>
          </a:xfrm>
          <a:prstGeom prst="rect">
            <a:avLst/>
          </a:prstGeom>
          <a:solidFill>
            <a:srgbClr val="EAF2F8"/>
          </a:solidFill>
          <a:ln w="11430">
            <a:solidFill>
              <a:srgbClr val="D8DEE3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5334000" y="4229100"/>
            <a:ext cx="3048000" cy="3619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5334000" y="25527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header</a:t>
            </a:r>
            <a:endParaRPr sz="9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5334000" y="346710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sidebar</a:t>
            </a:r>
            <a:endParaRPr sz="9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6305550" y="3467100"/>
            <a:ext cx="2076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2C3E50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main</a:t>
            </a:r>
            <a:endParaRPr sz="975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5334000" y="432435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footer</a:t>
            </a:r>
            <a:endParaRPr sz="9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E44AD"/>
                </a:solidFill>
              </a:rPr>
              <a:t>什么是响应式设计？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E44AD"/>
                </a:solidFill>
              </a:rPr>
              <a:t>▸ 响应式 Web 设计 (RWD) = 一套代码适配所有设备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E44AD"/>
                </a:solidFill>
              </a:rPr>
              <a:t>▸ 无论手机、平板、桌面，布局/字体/图片自动适应屏幕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E44AD"/>
                </a:solidFill>
              </a:rPr>
              <a:t>▸ 不是单独为每种设备建站，而是同一个网站自动缩放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E44AD"/>
                </a:solidFill>
              </a:rPr>
              <a:t>▸ 三大核心技术：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流式布局 — 用 %、rem、vw、fr 代替固定 px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弹性媒体 — img { max-width: 100%; height: auto; }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媒体查询 — @media 条件 { 不同样式 }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E44AD"/>
                </a:solidFill>
              </a:rPr>
              <a:t>▸ 响应式设计 ≠ 移动端适配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移动端适配：只管手机能看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响应式设计：所有设备都好看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67E22"/>
                </a:solidFill>
              </a:rPr>
              <a:t>为什么需要响应式设计？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E67E22"/>
                </a:solidFill>
              </a:rPr>
              <a:t>▸ 全球超过 60% 网页流量来自移动设备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67E22"/>
                </a:solidFill>
              </a:rPr>
              <a:t>▸ Google 自 2019 年采用「移动优先索引」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→ 移动端体验直接影响搜索排名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67E22"/>
                </a:solidFill>
              </a:rPr>
              <a:t>▸ 没有响应式 →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固定宽度手机需左右滚动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桌面大图浪费手机流量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可能需要维护 m.xxx.com 两套站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SEO 不友好，搜索引擎降低排名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67E22"/>
                </a:solidFill>
              </a:rPr>
              <a:t>▸ 有响应式 →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一套代码、一套内容、自动适配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布局伸缩、图片按需加载、省流量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统一 URL 搜索引擎友好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维护成本低，用户体验一致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5276"/>
                </a:solidFill>
              </a:rPr>
              <a:t>Part D: 响应式设计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响应式设计 (RWD) 让网页在所有设备上都呈现良好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核心理念：一套代码，适配手机、平板、桌面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不是 JavaScript，而是纯 HTML + CSS 方案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关键技术：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Viewport Meta 标签 — 控制移动端视口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媒体查询 (Media Queries) — 按条件应用样式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流式布局 — 使用相对单位让元素自适应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响应式图片/视频 — 按设备加载合适资源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流式排版 — 字号随视口平滑缩放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视口 Meta 标签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视口 (viewport) = 用户在网页上的可见区域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移动端默认将视口设为 980px，导致桌面布局被缩小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必须在 &lt;head&gt; 中添加 viewport meta 标签：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&lt;meta name="viewport" content="width=device-width, initial-scale=1.0"&gt;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关键属性：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width=device-width — 视口宽度 = 设备实际宽度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initial-scale=1.0 — 初始缩放比例 1:1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maximum-scale=2.0 — 允许的最大缩放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user-scalable=yes — 是否允许用户手动缩放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没有此标签 → 移动端按 980px 渲染，媒体查询失效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媒体查询 (Media Queries)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CSS3 引入的条件渲染技术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仅在满足特定条件时应用 CSS 规则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基本语法：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@media 媒体类型 and (条件) { CSS规则 }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示例：小于 600px 时背景变蓝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@media only screen and (max-width: 600px) {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  body { background-color: lightblue; }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}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常用条件：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max-width / min-width — 视口宽度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orientation: portrait/landscape — 方向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resolution / min-resolution — 像素密度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媒体类型：all / screen / print / speech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断点与移动优先 (Mobile First)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断点 (Breakpoint)：媒体查询生效的分界点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常见断点：480px | 768px | 1024px | 1200px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移动优先 (Mobile First)：先写手机样式，用 min-width 增强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基础样式 → 手机端（无需媒体查询）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@media (min-width: 768px) → 平板端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@media (min-width: 1024px) → 桌面端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优势：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渐进增强，而非降级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手机端只加载必要的 CSS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代码更少、更清晰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工具：Chrome DevTools → Toggle Device Toolbar (Ctrl+Shift+M)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响应式网格布局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CSS Grid 的 repeat() + auto-fill/auto-fit + minmax()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实现无需媒体查询的响应式网格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auto-fill：自动填充尽可能多的列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grid-template-columns: repeat(auto-fill, minmax(250px, 1fr));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auto-fit：拉伸填充可用空间（区别：保留空列 vs 拉伸）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经典 12 列响应式网格（Flex 实现）：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.col-4  { flex: 0 0 calc(33.33% - 11px); }  /* 3列 */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.col-6  { flex: 0 0 calc(50% - 8px); }       /* 2列 */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.col-12 { flex: 0 0 100%; }                   /* 1列 */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移动端全部 .col-4, .col-6 → flex: 0 0 100%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推荐：优先用 CSS Grid 的 auto-fill/auto-fit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响应式图片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基础方案：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img { max-width: 100%; height: auto; }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→ 图片不超过容器，保持宽高比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&lt;picture&gt; 元素：根据条件加载不同图片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&lt;picture&gt;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  &lt;source srcset="large.jpg" media="(min-width: 1024px)"&gt;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  &lt;source srcset="medium.jpg" media="(min-width: 600px)"&gt;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  &lt;img src="small.jpg" alt="响应式图片"&gt;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&lt;/picture&gt;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srcset + sizes 属性：浏览器自动选择最佳分辨率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→ 减少移动端下载大图的带宽浪费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响应式视频：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用 padding-bottom: 56.25% (16:9) 实现比例容器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video { max-width: 100%; height: auto; 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流式排版与 Viewport 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流式排版：字号随视口平滑缩放，无需断点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h1 { font-size: calc(1.5rem + 4vw); }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→ rem 提供基准，vw 增加视口相关性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clamp() 函数（CSS3）：限制值在最小与最大之间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h1 { font-size: clamp(1.5rem, 4vw + 0.5rem, 3.5rem); }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Viewport 单位：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vw — 视口宽度的 1%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vh — 视口高度的 1%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vmin — 取 vw 和 vh 中较小的值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vmax — 取 vw 和 vh 中较大的值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全屏布局：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.hero { min-height: 100vh; }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注意：不要单独用 vw 设置文字，影响可缩放性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响应式工具类与导航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常见框架（Bootstrap、Tailwind）提供按设备显隐的工具类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隐藏/显示：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.d-none            { display: none; }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.d-md-block        { display: block; }  /* ≥768px */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.d-lg-flex         { display: flex; }   /* ≥1024px */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响应式导航栏：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桌面端：display: flex 水平排列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移动端：显示汉堡按钮，链接纵向排列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纯 CSS 方案：checkbox hack / :target 伪类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响应式表格：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overflow-x: auto 横向滚动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小屏转为卡片布局 (display: block + data-label)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5276"/>
                </a:solidFill>
              </a:rPr>
              <a:t>响应式设计 — 最佳实践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✅ 移动优先：先写手机样式，min-width 向上增强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✅ 用相对单位：rem / em / vw / % / fr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✅ 流式图片：max-width: 100%; height: auto;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✅ 流式排版：calc(rem + vw) 或 clamp()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✅ CSS Grid 自适应：repeat(auto-fill, minmax())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✅ 常用断点：480 / 768 / 1024 / 1200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❌ 隐藏内容：不要因小屏就删除重要信息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❌ 固定宽度：避免 width: 960px 之类的硬编码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❌ 只测一个设备：用 DevTools 模拟多种尺寸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❌ 忘记 viewport meta：没有它媒体查询在手机上失效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核心原则：内容为先，技术适配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目标：任何设备上都能良好阅读和交互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</a:rPr>
              <a:t>综合练习: 响应式页面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任务：为 CSS 示例页添加响应式适配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步骤 1：确保 viewport meta 已添加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步骤 2：使用 media query 为小屏调整布局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步骤 3：图片使用 max-width: 100%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步骤 4：导航栏在小屏折叠为汉堡菜单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步骤 5：卡片网格从 3 列变为 1 列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额外挑战：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添加暗色模式的媒体查询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  @media (prefers-color-scheme: dark) { ... }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使用 clamp() 实现流式排版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为表格添加小屏卡片布局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验证：在 Chrome DevTools 中测试 320px / 768px / 1200px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5276"/>
                </a:solidFill>
              </a:rPr>
              <a:t>Part E: 过渡与动画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CSS 过渡 (Transition) — 属性值之间的平滑变化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CSS 变换 (Transform) — 旋转、缩放、平移、倾斜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CSS 动画 (Animation) — @keyframes 关键帧序列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Transition vs Animation：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Transition 需要触发条件（:hover 等），只能两个状态间过渡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Animation 可自动播放、循环、有多关键帧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核心属性：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transition — property / duration / timing-function / delay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transform — rotate / scale / translate / skew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animation — name / duration / delay / iteration-count / direction / fill-mode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5276"/>
                </a:solidFill>
              </a:rPr>
              <a:t>▸ 性能提示：优先用 transform + opacity（仅触发合成层）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CSS Transition 过渡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让 CSS 属性值在两个状态之间平滑变化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需要触发条件（:hover / :focus / class 切换）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四个子属性：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transition-property — 过渡哪些属性（默认 all）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transition-duration — 持续时间（默认 0s，必须设置）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transition-timing-function — 速度曲线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transition-delay — 延迟多久开始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简写形式：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transition: all .3s ease 0s;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常用场景：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按钮 hover：transition: background .2s, transform .2s;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颜色变化、圆角变化、阴影扩展、位移弹起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Transition 速度曲线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transition-timing-function 控制加速度曲线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五个关键字：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ease（默认）— 慢→快→慢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linear — 匀速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ease-in — 慢启动（渐入）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ease-out — 慢结束（渐出）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ease-in-out — 慢启动 + 慢结束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贝塞尔曲线（自定义）：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cubic-bezier(x1, y1, x2, y2)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通过控制点调节速度曲线的形状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推荐：大部分场景用 ease 或 ease-out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贝塞尔网站：cubic-bezier.com 可视化调试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CSS Transform 2D 变换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对元素进行旋转、缩放、平移、倾斜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不影响文档流（其他元素位置不变）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常用函数：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rotate(45deg) — 旋转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scale(1.5) — 缩放（1=原始大小）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translateX(50px) — 水平平移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translateY(-30px) — 垂直平移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skewX(15deg) — X 轴倾斜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多个变换组合（空格分隔）：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transform: rotate(45deg) scale(1.2) translateX(20px);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transform-origin — 变换原点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默认 center center（元素中心）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CSS @keyframes 关键帧动画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@keyframes 定义动画的关键帧序列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通过 animation 属性应用到元素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基本语法：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@keyframes 动画名 {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  0%   { 属性值; }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  50%  { 属性值; }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  100% { 属性值; }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}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from/to 等同 0%/100%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常用动画效果：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颜色循环 — 多段 background-color 变化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弹跳 — translateY 来回变化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旋转 — rotate 0→360deg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脉冲 — scale + opacity 变化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滑入 — translateX + opacity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淡入 — opacity 0→1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animation 属性详解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animation 是 8 个子属性的简写：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① animation-name — @keyframes 名称（必填）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② animation-duration — 单次时长（必填，默认 0s）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③ animation-delay — 延迟开始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④ animation-timing-function — 速度曲线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⑤ animation-iteration-count — 播放次数（数字 / infinite）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⑥ animation-direction — normal / reverse / alternate / alternate-reverse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⑦ animation-fill-mode — none / forwards / backwards / both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⑧ animation-play-state — running / paused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简写（最少写 name + duration）：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animation: bounce .8s ease-in-out infinite alternate;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980B9"/>
                </a:solidFill>
              </a:rPr>
              <a:t>animation-fill-mode 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fill-mode 控制动画开始前 / 结束后的元素样式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none（默认）— 不保留任何关键帧样式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forwards — 动画结束后保留最后一个关键帧的值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backwards — 动画开始前（延迟期间）应用第一个关键帧的值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both — 同时遵循 forwards 和 backwards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常用组合：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加载动画 → animation-fill-mode: forwards;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入场动画 → animation-fill-mode: both;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</a:rPr>
              <a:t>▸ direction 属性值：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normal — 正向 0%→100%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reverse — 反向 100%→0%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alternate — 正→反→正（奇数次正向，偶数次反向）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alternate-reverse — 反→正→反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</a:rPr>
              <a:t>动画性能优化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动画卡顿 = 触发浏览器重排 (reflow)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✅ 高性能（仅触发合成层）：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transform — 位移、旋转、缩放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opacity — 透明度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❌ 低性能（触发重排）：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width / height / margin / padding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top / left / right / bottom / font-size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原则：用 transform 替代位置属性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❌ transition: margin-top .3s;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✅ transition: transform .3s; /* translateY(-10px) */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will-change 提示浏览器提前创建合成层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will-change: transform, opacity;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</a:rPr>
              <a:t>综合练习: 过渡与动画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任务 1：为按钮添加 hover 过渡效果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颜色变化 + 向上位移 + 圆角变化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控制时长在 0.2-0.3s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任务 2：用 @keyframes 实现 loading 转圈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border + border-top-color + border-radius:50%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animation: spin .8s linear infinite;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任务 3：实现打字机效果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@keyframes typewriter 控制 width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steps() 函数实现逐字出现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配合 blink 闪烁光标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7AE60"/>
                </a:solidFill>
              </a:rPr>
              <a:t>▸ 任务 4：卡片入场动画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@keyframes fadeInUp + animation-fill-mode: both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7313F"/>
                </a:solidFill>
              </a:rPr>
              <a:t>   • 用 animation-delay 让多个卡片依次入场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F: CSS3 增强特性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6EAF8"/>
                </a:solidFill>
              </a:defRPr>
            </a:pPr>
            <a:r>
              <a:t>圆角、阴影、滤镜、变量、伪类、伪元素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CSS3 border-radius 圆角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border-radius 为元素添加圆角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border-radius: 12px;          /* 四角统一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border-radius: 50%;           /* 椭圆 / 圆形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border-radius: 20px 0;        /* 左上 20px，右上 0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border-radius: 40px 10px 40px 10px;  /* 顺时针: 左上 右上 右下 左下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支持百分比：宽高相同时 50% = 圆形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可分别设置四个角：border-top-left-radius 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D6D7E"/>
                </a:solidFill>
              </a:defRPr>
            </a:pPr>
            <a:r>
              <a:t>提示：border-radius 简写顺序为 左上 右上 右下 左下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border-radius 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solidFill>
            <a:srgbClr val="25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.box1 { border-radius: 12px;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.box2 { border-radius: 50%;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.box3 { border-radius: 20px 0;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.box4 { border-radius: 40px 10px 40px 10px;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&lt;/style&gt;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class="box1"&gt;12px&lt;/div&gt;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class="box2"&gt;50%&lt;/div&gt;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class="box3"&gt;20px 0&lt;/div&gt;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class="box4"&gt;不对称&lt;/div&gt;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CSS3 box-shadow 盒阴影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语法：box-shadow: x y blur spread color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x / y：必需，阴影偏移量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blur：可选，模糊半径（默认 0）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spread：可选，扩展半径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color：阴影颜色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inset：添加此关键字变为内阴影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可叠加多层：box-shadow: 阴影1, 阴影2,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D6D7E"/>
                </a:solidFill>
              </a:defRPr>
            </a:pPr>
            <a:r>
              <a:t>多层阴影从最上层到最下层绘制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box-shadow 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solidFill>
            <a:srgbClr val="25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.shadow1 { box-shadow: 4px 4px 12px rgba(0,0,0,0.15);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.shadow2 { box-shadow: 0 4px 20px rgba(52,152,219,0.4);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.shadow3 { box-shadow: inset 0 2px 8px rgba(0,0,0,0.2);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.shadow4 { box-shadow: 4px 4px 0 #3498db,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                   8px 8px 0 #e74c3c;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&lt;/style&gt;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class="shadow1"&gt;外阴影&lt;/div&gt;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class="shadow2"&gt;彩色阴影&lt;/div&gt;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class="shadow3"&gt;内阴影&lt;/div&gt;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class="shadow4"&gt;多层阴影&lt;/div&gt;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CSS3 text-shadow 文本阴影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语法：text-shadow: x y blur color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与 box-shadow 类似，但作用于文本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可叠加多层实现发光效果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常见用法：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发光效果：text-shadow: 0 0 10px #3498db, 0 0 20px #3498db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3D 凸起：多层阴影递增偏移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空心字：text-shadow: -1px -1px 0 #fff, 1px 1px 0 #fff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text-shadow 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solidFill>
            <a:srgbClr val="25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.glow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text-shadow: 0 0 10px #3498db,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             0 0 20px #3498db;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.emboss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text-shadow: 1px 1px 0 #111,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             2px 2px 0 #555,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             3px 3px 0 #777;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&lt;/style&gt;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&lt;p class="glow"&gt;发光效果&lt;/p&gt;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&lt;p class="emboss"&gt;3D 凸起效果&lt;/p&gt;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CSS3 filter 滤镜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filter 对元素应用图形滤镜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filter: blur(3px);          /* 模糊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filter: brightness(1.5);    /* 亮度 150%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filter: grayscale(1);       /* 灰度 100%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filter: contrast(2);        /* 对比度 200%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filter: saturate(1.5);      /* 饱和度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filter: hue-rotate(90deg);  /* 色相旋转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filter: invert(1);          /* 反色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filter: sepia(0.8);         /* 棕褐色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可组合使用：filter: blur(1px) brightness(1.1);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D6D7E"/>
                </a:solidFill>
              </a:defRPr>
            </a:pPr>
            <a:r>
              <a:t>filter 也可用于 backdrop-filter 实现毛玻璃效果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filter 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solidFill>
            <a:srgbClr val="25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.original { filter: none;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.blur     { filter: blur(3px);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.bright   { filter: brightness(1.5);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.gray     { filter: grayscale(1);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.contrast { filter: contrast(2);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.hue      { filter: hue-rotate(90deg);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&lt;/style&gt;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class="original"&gt;原图&lt;/div&gt;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class="blur"&gt;模糊&lt;/div&gt;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class="bright"&gt;亮&lt;/div&gt;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class="gray"&gt;灰度&lt;/div&gt;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class="contrast"&gt;高对比&lt;/div&gt;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class="hue"&gt;色相旋转&lt;/div&gt;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 变量（自定义属性）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用 --变量名 定义，var(--变量名) 使用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:root { --primary: #3498db; --radius: 12px; }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.card { color: var(--primary); border-radius: var(--radius); }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优势：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统一管理主题色、间距、字号等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方便主题切换（修改一处，全局生效）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支持 JS 动态修改：el.style.setProperty('--primary', '#e74c3c')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作用域：变量在定义元素及其后代中生效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D6D7E"/>
                </a:solidFill>
              </a:defRPr>
            </a:pPr>
            <a:r>
              <a:t>var() 第二个参数可设默认值：var(--color, #333)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 变量示例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solidFill>
            <a:srgbClr val="25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:root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--primary: #3498db;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--danger: #e74c3c;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--radius: 12px;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--shadow: 0 4px 12px rgba(0,0,0,0.1);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.card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border: 2px solid var(--primary);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border-radius: var(--radius);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box-shadow: var(--shadow);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padding: 20px;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.card h3 { color: var(--primary);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.btn { background: var(--danger); 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CSS3 box-sizing 盒模型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content-box（默认）：width/height 只含内容区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实际宽度 = width + padding + border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border-box：width/height 含 padding + border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实际宽度 = width（padding 和 border 包含在内）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推荐全局设置：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* { box-sizing: border-box; }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好处：设置 width 后不需要手动减去 padding/border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布局计算更直观，避免溢出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box-sizing 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solidFill>
            <a:srgbClr val="25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/* 默认 content-box */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.content-box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box-sizing: content-box;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width: 200px; padding: 16px; border: 3px solid red;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/* 实际宽度 = 200 + 32 + 6 = 238px */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/* 推荐 border-box */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.border-box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box-sizing: border-box;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width: 200px; padding: 16px; border: 3px solid green;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/* 实际宽度 = 200px */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/* 全局重置 */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* { box-sizing: border-box; }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CSS3 outline-offset 与 resize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outline-offset：控制轮廓与边框的间距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outline: 2px dashed red; outline-offset: 8px;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轮廓不影响布局（不像 border）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resize：允许用户拖拽调整元素大小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resize: both;    /* 水平 + 垂直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resize: horizontal;  /* 仅水平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resize: vertical;    /* 仅垂直 */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需配合 overflow 使用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appearance: none; 去除默认样式（常用于表单元素）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outline-offset 与 resize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solidFill>
            <a:srgbClr val="25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.outline-demo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padding: 12px 20px;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border: 2px solid #3498db;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outline: 2px dashed #e74c3c;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outline-offset: 8px;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.resize-demo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resize: both;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overflow: auto;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width: 200px; height: 100px;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&lt;/style&gt;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&lt;div class="outline-demo"&gt;outline-offset&lt;/div&gt;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&lt;textarea class="resize-demo"&gt;可拖拽&lt;/textarea&gt;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CSS3 伪类选择器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:nth-child(n) — 选取第 n 个子元素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n 可以是数字、odd/even、公式(2n+1)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:nth-last-child(n) — 从后往前数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:last-child — 最后一个子元素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:first-child — 第一个子元素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:not(selector) — 排除匹配的元素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:checked — 选中的 checkbox/radio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:focus — 获得焦点的元素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:disabled — 禁用的元素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伪类选择器示例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solidFill>
            <a:srgbClr val="25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.list li:nth-child(odd)  { background: #d6eaf8;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.list li:nth-child(even) { background: #d4efdf; 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.list li:last-child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font-weight: bold;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border-left: 4px solid #e74c3c;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/* 公式用法 */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.item:nth-child(3n)   { color: red; }   /* 每 3 个 */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.item:nth-child(3n+1) { color: blue; }  /* 第 1,4,7... */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&lt;/style&gt;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&lt;ul class="list"&gt;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&lt;li&gt;第 1 项 (odd)&lt;/li&gt;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&lt;li&gt;第 2 项 (even)&lt;/li&gt;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&lt;li&gt;第 3 项 (odd)&lt;/li&gt;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&lt;li&gt;第 4 项 (even)&lt;/li&gt;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&lt;li&gt;第 5 项 — :last-child&lt;/li&gt;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&lt;/ul&gt;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CSS3 伪元素 ::before / ::after / ::selection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::before — 在元素内容前插入装饰内容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必须设置 content 属性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::after — 在元素内容后插入装饰内容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常用于清除浮动、添加图标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::selection — 自定义文本选中样式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::selection { background: #3498db; color: white; }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::first-letter — 首字母样式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::first-line — 首行样式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::placeholder — 占位符样式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D6D7E"/>
                </a:solidFill>
              </a:defRPr>
            </a:pPr>
            <a:r>
              <a:t>::before / ::after 默认 display: inline，需要 display: block 才能设宽高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伪元素示例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solidFill>
            <a:srgbClr val="25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.content::before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content: "👉 "; color: #e74c3c;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.content::after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content: " ✅"; color: #27ae60;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.custom-select::selection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background: #3498db; color: white;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/* 清除浮动 */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.clearfix::after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content: ""; display: table;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clear: both;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&lt;/style&gt;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&lt;p class="content"&gt;这段文字有装饰符号&lt;/p&gt;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&lt;p class="custom-select"&gt;选中我试试！&lt;/p&gt;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综合练习 — CSS3 卡片组件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综合运用：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border-radius — 圆角外观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box-shadow — 卡片阴影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CSS 变量 — 统一主题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transition — 悬停动画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filter — 图片滤镜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::after — 装饰线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练习要求：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1. 创建 3 张卡片，使用 CSS 变量管理颜色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2. 悬停时卡片上浮 + 阴影加深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3. 标题下方用 ::after 添加装饰线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CSS3 卡片代码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solidFill>
            <a:srgbClr val="25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:root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--card-radius: 16px;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--card-shadow: 0 4px 16px rgba(0,0,0,0.1);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--primary: #3498db;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.card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border-radius: var(--card-radius);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box-shadow: var(--card-shadow);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overflow: hidden;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transition: transform 0.3s, box-shadow 0.3s;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background: white;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.card:hover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transform: translateY(-6px);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box-shadow: 0 12px 32px rgba(0,0,0,0.15);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.card-body h3::after {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content: ""; display: block;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width: 40px; height: 3px;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background: var(--primary);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  border-radius: 2px;</a:t>
            </a:r>
          </a:p>
          <a:p>
            <a:pPr>
              <a:spcAft>
                <a:spcPts val="200"/>
              </a:spcAft>
              <a:defRPr sz="1400">
                <a:solidFill>
                  <a:srgbClr val="ECF0F1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15*350"/>
  <p:tag name="TABLE_ENDDRAG_RECT" val="45*122*515*350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8944</Words>
  <Application>WPS Slides</Application>
  <PresentationFormat>Converted Presentation</PresentationFormat>
  <Paragraphs>742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Consolas</vt:lpstr>
      <vt:lpstr>Thonburi</vt:lpstr>
      <vt:lpstr>Consolas</vt:lpstr>
      <vt:lpstr>微软雅黑</vt:lpstr>
      <vt:lpstr>苹方-简</vt:lpstr>
      <vt:lpstr>Apple Color Emoji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孙成新</cp:lastModifiedBy>
  <cp:revision>1</cp:revision>
  <dcterms:created xsi:type="dcterms:W3CDTF">2026-07-13T02:29:20Z</dcterms:created>
  <dcterms:modified xsi:type="dcterms:W3CDTF">2026-07-13T02:29:20Z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DE95E325220ECA00804D546A23EF133A_42</vt:lpwstr>
  </property>
  <property fmtid="{D5CDD505-2E9C-101B-9397-08002B2CF9AE}" pid="3" name="KSOProductBuildVer">
    <vt:lpwstr>1033-7.3.1.8967</vt:lpwstr>
  </property>
</Properties>
</file>