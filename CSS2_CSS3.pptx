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8829dbd5e81a4d11" Type="http://schemas.openxmlformats.org/package/2006/relationships/metadata/core-properties" Target="docProps/core.xml"/><Relationship Id="Rc5194292cb5e48cb" Type="http://schemas.openxmlformats.org/officeDocument/2006/relationships/officeDocument" Target="ppt/presentation.xml"/><Relationship Id="Reac1555caea24d78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902c1aef874cdd"/>
  </p:sldMasterIdLst>
  <p:notesMasterIdLst>
    <p:notesMasterId xmlns:r="http://schemas.openxmlformats.org/officeDocument/2006/relationships" r:id="Ra987721b6ec04ac8"/>
  </p:notesMasterIdLst>
  <p:sldIdLst>
    <p:sldId xmlns:r="http://schemas.openxmlformats.org/officeDocument/2006/relationships" id="256" r:id="R10314c2b1c684ebb"/>
    <p:sldId xmlns:r="http://schemas.openxmlformats.org/officeDocument/2006/relationships" id="257" r:id="Rcc18142884104607"/>
    <p:sldId xmlns:r="http://schemas.openxmlformats.org/officeDocument/2006/relationships" id="258" r:id="Rf89dfe95201643ad"/>
    <p:sldId xmlns:r="http://schemas.openxmlformats.org/officeDocument/2006/relationships" id="259" r:id="R6fa45f5c5a554fa3"/>
    <p:sldId xmlns:r="http://schemas.openxmlformats.org/officeDocument/2006/relationships" id="260" r:id="R2f18f26ca7ac43b8"/>
    <p:sldId xmlns:r="http://schemas.openxmlformats.org/officeDocument/2006/relationships" id="261" r:id="Rb951d72b5df94438"/>
    <p:sldId xmlns:r="http://schemas.openxmlformats.org/officeDocument/2006/relationships" id="262" r:id="R983314de580d474f"/>
    <p:sldId xmlns:r="http://schemas.openxmlformats.org/officeDocument/2006/relationships" id="263" r:id="R9767f1c77a9943fd"/>
    <p:sldId xmlns:ns0="http://schemas.openxmlformats.org/officeDocument/2006/relationships" id="264" ns0:id="rId14"/>
    <p:sldId xmlns:ns0="http://schemas.openxmlformats.org/officeDocument/2006/relationships" id="265" ns0:id="rId15"/>
    <p:sldId xmlns:ns0="http://schemas.openxmlformats.org/officeDocument/2006/relationships" id="266" ns0:id="rId16"/>
    <p:sldId xmlns:ns0="http://schemas.openxmlformats.org/officeDocument/2006/relationships" id="267" ns0:id="rId17"/>
    <p:sldId xmlns:ns0="http://schemas.openxmlformats.org/officeDocument/2006/relationships" id="268" ns0:id="rId18"/>
    <p:sldId xmlns:ns0="http://schemas.openxmlformats.org/officeDocument/2006/relationships" id="269" ns0:id="rId19"/>
    <p:sldId xmlns:ns0="http://schemas.openxmlformats.org/officeDocument/2006/relationships" id="270" ns0:id="rId20"/>
    <p:sldId xmlns:ns0="http://schemas.openxmlformats.org/officeDocument/2006/relationships" id="271" ns0:id="rId2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0314c2b1c684ebb" Type="http://schemas.openxmlformats.org/officeDocument/2006/relationships/slide" Target="slides/slide1.xml"/><Relationship Id="R12d3531bd0584b2c" Type="http://schemas.openxmlformats.org/officeDocument/2006/relationships/tableStyles" Target="tableStyles.xml"/><Relationship Id="R1a902c1aef874cdd" Type="http://schemas.openxmlformats.org/officeDocument/2006/relationships/slideMaster" Target="slideMasters/slideMaster1.xml"/><Relationship Id="R2cd724b334594f0a" Type="http://schemas.openxmlformats.org/officeDocument/2006/relationships/theme" Target="theme/theme1.xml"/><Relationship Id="R2f18f26ca7ac43b8" Type="http://schemas.openxmlformats.org/officeDocument/2006/relationships/slide" Target="slides/slide5.xml"/><Relationship Id="R4ed85856aa0c4520" Type="http://schemas.openxmlformats.org/officeDocument/2006/relationships/presProps" Target="presProps.xml"/><Relationship Id="R6fa45f5c5a554fa3" Type="http://schemas.openxmlformats.org/officeDocument/2006/relationships/slide" Target="slides/slide4.xml"/><Relationship Id="R9767f1c77a9943fd" Type="http://schemas.openxmlformats.org/officeDocument/2006/relationships/slide" Target="slides/slide8.xml"/><Relationship Id="R983314de580d474f" Type="http://schemas.openxmlformats.org/officeDocument/2006/relationships/slide" Target="slides/slide7.xml"/><Relationship Id="Ra987721b6ec04ac8" Type="http://schemas.openxmlformats.org/officeDocument/2006/relationships/notesMaster" Target="notesMasters/notesMaster1.xml"/><Relationship Id="Rb951d72b5df94438" Type="http://schemas.openxmlformats.org/officeDocument/2006/relationships/slide" Target="slides/slide6.xml"/><Relationship Id="Rcc18142884104607" Type="http://schemas.openxmlformats.org/officeDocument/2006/relationships/slide" Target="slides/slide2.xml"/><Relationship Id="Rf89dfe95201643ad" Type="http://schemas.openxmlformats.org/officeDocument/2006/relationships/slide" Target="slides/slide3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df5bac47535343d7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0b503c63c094560" Type="http://schemas.openxmlformats.org/officeDocument/2006/relationships/slide" Target="../slides/slide1.xml"/><Relationship Id="R0696f20c742649a9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09045ad2644b44f5" Type="http://schemas.openxmlformats.org/officeDocument/2006/relationships/notesMaster" Target="../notesMasters/notesMaster1.xml"/><Relationship Id="R87b0a4319eb949ff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3dc63899eb4d4740" Type="http://schemas.openxmlformats.org/officeDocument/2006/relationships/notesMaster" Target="../notesMasters/notesMaster1.xml"/><Relationship Id="Rbe44d0c00a2b4160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16632a325d5b4121" Type="http://schemas.openxmlformats.org/officeDocument/2006/relationships/notesMaster" Target="../notesMasters/notesMaster1.xml"/><Relationship Id="R55ef00ce265e448e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cf3b5b718d24725" Type="http://schemas.openxmlformats.org/officeDocument/2006/relationships/notesMaster" Target="../notesMasters/notesMaster1.xml"/><Relationship Id="Re8d7659e59ac49a0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669785481fa94edd" Type="http://schemas.openxmlformats.org/officeDocument/2006/relationships/slide" Target="../slides/slide6.xml"/><Relationship Id="R93650eb7d75742fd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ca1066f282704db7" Type="http://schemas.openxmlformats.org/officeDocument/2006/relationships/notesMaster" Target="../notesMasters/notesMaster1.xml"/><Relationship Id="Rd650d77185d5420f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5c63d00eee154957" Type="http://schemas.openxmlformats.org/officeDocument/2006/relationships/slide" Target="../slides/slide8.xml"/><Relationship Id="R8f7210c87bc84e8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f12b9cb0fbbb43c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e61b0c7f66e4699" Type="http://schemas.openxmlformats.org/officeDocument/2006/relationships/theme" Target="theme/theme2.xml"/><Relationship Id="R933c6e4214fc4b8b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33c6e4214fc4b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80fd0296ca324703" Type="http://schemas.openxmlformats.org/officeDocument/2006/relationships/slideLayout" Target="../slideLayouts/slideLayout1.xml"/><Relationship Id="Rd036a1465a4d446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c83dc0ced29b40a8" Type="http://schemas.openxmlformats.org/officeDocument/2006/relationships/slideLayout" Target="../slideLayouts/slideLayout1.xml"/><Relationship Id="Rfec9e3d253e64d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cae389279c7c4772" Type="http://schemas.openxmlformats.org/officeDocument/2006/relationships/notesSlide" Target="../notesSlides/notesSlide3.xml"/><Relationship Id="Red9e745b4ef54cc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a9c03ff65e894038" Type="http://schemas.openxmlformats.org/officeDocument/2006/relationships/notesSlide" Target="../notesSlides/notesSlide4.xml"/><Relationship Id="Re4077c047611454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946d02e944954f32" Type="http://schemas.openxmlformats.org/officeDocument/2006/relationships/slideLayout" Target="../slideLayouts/slideLayout1.xml"/><Relationship Id="Rd83814840dc14c0a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6791244d0162460d" Type="http://schemas.openxmlformats.org/officeDocument/2006/relationships/notesSlide" Target="../notesSlides/notesSlide6.xml"/><Relationship Id="R9bbc84a57fec442d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874786948af1442f" Type="http://schemas.openxmlformats.org/officeDocument/2006/relationships/slideLayout" Target="../slideLayouts/slideLayout1.xml"/><Relationship Id="Rcf1e9958a4c341a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6ed0cf855e464f33" Type="http://schemas.openxmlformats.org/officeDocument/2006/relationships/notesSlide" Target="../notesSlides/notesSlide8.xml"/><Relationship Id="Rb5ed124511d0462d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47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6CA199-77DB-47DE-B7A4-2AE9E7BC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143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CSS2 / CSS3 教学课件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4520E7-0A2F-4903-8584-7996C7C6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742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从选择器到布局，再到响应式与动画的渐进式课程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9311D8-F2C1-4CD4-B89F-0615BAD8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340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教学示例 + 试验场 + 课堂课件</a:t>
            </a:r>
          </a:p>
        </p:txBody>
      </p:sp>
    </p:spTree>
    <p:extLst>
      <p:ext uri="{BB962C8B-B14F-4D97-AF65-F5344CB8AC3E}">
        <p14:creationId xmlns:p14="http://schemas.microsoft.com/office/powerpoint/2010/main" val="3818769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224DA6-6B54-4442-A059-2E15B7369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2748E"/>
                </a:solidFill>
              </a:defRPr>
            </a:pPr>
            <a:r>
              <a:rPr sz="1050" b="1">
                <a:solidFill>
                  <a:srgbClr val="62748E"/>
                </a:solidFill>
              </a:rPr>
              <a:t>CSS2 / CSS3 教学课件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7FBBCA-4B91-43F9-972E-1A69E387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20618"/>
                </a:solidFill>
              </a:defRPr>
            </a:pPr>
            <a:r>
              <a:rPr sz="2700" b="1">
                <a:solidFill>
                  <a:srgbClr val="020618"/>
                </a:solidFill>
              </a:rPr>
              <a:t>选择器是 CSS 的第一道判断题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EA1A21-D079-4CEB-AF49-B971CF84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3812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FA4AC4-67BD-4284-8968-7197B456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669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简单选择器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A4AF6-C0F6-4EE4-9687-529F3C13C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09800"/>
            <a:ext cx="2000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元素、class、id、通用选择器解决“选谁”。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B40F9A-F9E4-4141-AB85-96A9E934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695450"/>
            <a:ext cx="23812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C6891B-21BF-4FD1-90E6-7D62DFA9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8669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组合器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74CAF3-0435-4FF0-97D8-B3F9225C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09800"/>
            <a:ext cx="2000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空格、&gt;、+、~ 描述元素关系。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558C5C-B5B3-4456-B2A6-580A8703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95450"/>
            <a:ext cx="23812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9AB1A4-0842-4104-A357-04C152AD0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669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属性选择器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79C8F7-415C-4F76-BC04-5E22C178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09800"/>
            <a:ext cx="2000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[attr]、^=、$=、*= 适合链接和状态。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19433B-A68F-49D6-8B3C-9BDD5D0E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695450"/>
            <a:ext cx="23812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4E5828-B2AD-4E10-B59D-A9741110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669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伪类 / 伪元素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B90047-3FF5-447A-AEC3-EC127B09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09800"/>
            <a:ext cx="2000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:hover、:checked、:nth-child、::before 等表达状态与局部。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1778E4-E9F8-477C-93CD-38CC1B9C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8625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4158"/>
                </a:solidFill>
              </a:defRPr>
            </a:pPr>
            <a:r>
              <a:rPr sz="1650" b="1">
                <a:solidFill>
                  <a:srgbClr val="314158"/>
                </a:solidFill>
              </a:rPr>
              <a:t>课堂目标：学生能根据 HTML 结构选择最小、清晰、可维护的 selector。</a:t>
            </a:r>
          </a:p>
        </p:txBody>
      </p:sp>
    </p:spTree>
    <p:extLst>
      <p:ext uri="{BB962C8B-B14F-4D97-AF65-F5344CB8AC3E}">
        <p14:creationId xmlns:p14="http://schemas.microsoft.com/office/powerpoint/2010/main" val="3985938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6638FF-7C93-4894-B456-272D9FB4A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2748E"/>
                </a:solidFill>
              </a:defRPr>
            </a:pPr>
            <a:r>
              <a:rPr sz="1050" b="1">
                <a:solidFill>
                  <a:srgbClr val="62748E"/>
                </a:solidFill>
              </a:rPr>
              <a:t>CSS2 / CSS3 教学课件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0CD942-EF89-4E85-90F2-675680AE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20618"/>
                </a:solidFill>
              </a:defRPr>
            </a:pPr>
            <a:r>
              <a:rPr sz="2700" b="1">
                <a:solidFill>
                  <a:srgbClr val="020618"/>
                </a:solidFill>
              </a:rPr>
              <a:t>fffuel 式可视化练习适合讲清“命中范围”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A9A5E3-C37E-4607-98BA-3FA3F981E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95450"/>
            <a:ext cx="30480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25D658-035A-4B19-8791-0CF19FE3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669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兄弟关系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C225F4-C279-415F-9821-E23D0D117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09800"/>
            <a:ext cx="266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A + B 只选紧邻兄弟；A ~ B 选择后续同级兄弟。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EB6D55-4746-4CED-862E-FC219A5D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695450"/>
            <a:ext cx="30480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986E6A-40EE-46FA-AD92-106C960B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669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属性匹配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A1791-7FD7-4106-95C4-772C9EC6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09800"/>
            <a:ext cx="266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href^="https"、href$=".pdf"、data-state~="active"。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26FA74-0106-4ECC-82C8-08C6DDAF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695450"/>
            <a:ext cx="30480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FDB94E-D6E9-49DC-8DB1-5025A0D4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8669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结构位置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B4CE81-2052-4AE3-8151-0EFC37BD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09800"/>
            <a:ext cx="266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:nth-child(even) 与 :nth-of-type(odd) 的差异。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BD7D2D-0FE5-4506-A61F-EFDE0F44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05250"/>
            <a:ext cx="8572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0F172B"/>
          </a:solidFill>
          <a:ln xmlns:a="http://schemas.openxmlformats.org/drawingml/2006/main" w="9525">
            <a:solidFill>
              <a:srgbClr val="1D293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A6E31-6A39-49D8-BCAF-8F1FC2440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71950"/>
            <a:ext cx="80391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9F8CF"/>
                </a:solidFill>
              </a:defRPr>
            </a:pPr>
            <a:r>
              <a:rPr sz="1275" b="0">
                <a:solidFill>
                  <a:srgbClr val="B9F8CF"/>
                </a:solidFill>
              </a:rPr>
              <a:t>.first + .item { ... }</a:t>
            </a:r>
          </a:p>
          <a:p xmlns:a="http://schemas.openxmlformats.org/drawingml/2006/main">
            <a:pPr>
              <a:defRPr sz="1275" b="0">
                <a:solidFill>
                  <a:srgbClr val="B9F8CF"/>
                </a:solidFill>
              </a:defRPr>
            </a:pPr>
            <a:r>
              <a:rPr sz="1275" b="0">
                <a:solidFill>
                  <a:srgbClr val="B9F8CF"/>
                </a:solidFill>
              </a:rPr>
              <a:t>.first ~ .item { ... }</a:t>
            </a:r>
          </a:p>
          <a:p xmlns:a="http://schemas.openxmlformats.org/drawingml/2006/main">
            <a:pPr>
              <a:defRPr sz="1275" b="0">
                <a:solidFill>
                  <a:srgbClr val="B9F8CF"/>
                </a:solidFill>
              </a:defRPr>
            </a:pPr>
            <a:r>
              <a:rPr sz="1275" b="0">
                <a:solidFill>
                  <a:srgbClr val="B9F8CF"/>
                </a:solidFill>
              </a:rPr>
              <a:t>a[href$=".pdf"]::after { content:" 文件"; }</a:t>
            </a:r>
          </a:p>
          <a:p xmlns:a="http://schemas.openxmlformats.org/drawingml/2006/main">
            <a:pPr>
              <a:defRPr sz="1275" b="0">
                <a:solidFill>
                  <a:srgbClr val="B9F8CF"/>
                </a:solidFill>
              </a:defRPr>
            </a:pPr>
            <a:r>
              <a:rPr sz="1275" b="0">
                <a:solidFill>
                  <a:srgbClr val="B9F8CF"/>
                </a:solidFill>
              </a:rPr>
              <a:t>li:nth-child(even) { ... 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555B0D-F86B-4294-98D0-05E14CAE7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71500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5556C"/>
                </a:solidFill>
              </a:defRPr>
            </a:pPr>
            <a:r>
              <a:rPr sz="1500" b="0">
                <a:solidFill>
                  <a:srgbClr val="45556C"/>
                </a:solidFill>
              </a:rPr>
              <a:t>示例页 11-15 节已补充这些完整 HTML + CSS 片段，可直接打开试验场。</a:t>
            </a:r>
          </a:p>
        </p:txBody>
      </p:sp>
    </p:spTree>
    <p:extLst>
      <p:ext uri="{BB962C8B-B14F-4D97-AF65-F5344CB8AC3E}">
        <p14:creationId xmlns:p14="http://schemas.microsoft.com/office/powerpoint/2010/main" val="17376916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697FF8-CEF4-4E8D-8E8C-91A35261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2748E"/>
                </a:solidFill>
              </a:defRPr>
            </a:pPr>
            <a:r>
              <a:rPr sz="1050" b="1">
                <a:solidFill>
                  <a:srgbClr val="62748E"/>
                </a:solidFill>
              </a:rPr>
              <a:t>CSS2 / CSS3 教学课件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1DAF8B-0CAB-4EB8-A106-C254D70D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20618"/>
                </a:solidFill>
              </a:defRPr>
            </a:pPr>
            <a:r>
              <a:rPr sz="2700" b="1">
                <a:solidFill>
                  <a:srgbClr val="020618"/>
                </a:solidFill>
              </a:rPr>
              <a:t>特异性与层叠决定最终样式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DE216D-E7E3-4E10-9650-83A3A8EC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E06495-B2E8-4AD8-86E4-5FF48C3C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8595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优先级大致顺序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5F7480-E8F9-430F-9CA6-797A99AFA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28850"/>
            <a:ext cx="27622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ID &gt; class / 属性 / 伪类 &gt; 元素 / 伪元素。实际还要考虑来源、!important 和出现顺序。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5E8C90-2ED9-4CDB-A787-3EDBF6AA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14500"/>
            <a:ext cx="5810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F172B"/>
          </a:solidFill>
          <a:ln xmlns:a="http://schemas.openxmlformats.org/drawingml/2006/main" w="9525">
            <a:solidFill>
              <a:srgbClr val="1D29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24FC4C-0E29-49CD-8D19-EA8B64FC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81200"/>
            <a:ext cx="52768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9F8CF"/>
                </a:solidFill>
              </a:defRPr>
            </a:pPr>
            <a:r>
              <a:rPr sz="1275" b="0">
                <a:solidFill>
                  <a:srgbClr val="B9F8CF"/>
                </a:solidFill>
              </a:rPr>
              <a:t>p { color: #34495e; }</a:t>
            </a:r>
          </a:p>
          <a:p xmlns:a="http://schemas.openxmlformats.org/drawingml/2006/main">
            <a:pPr>
              <a:defRPr sz="1275" b="0">
                <a:solidFill>
                  <a:srgbClr val="B9F8CF"/>
                </a:solidFill>
              </a:defRPr>
            </a:pPr>
            <a:r>
              <a:rPr sz="1275" b="0">
                <a:solidFill>
                  <a:srgbClr val="B9F8CF"/>
                </a:solidFill>
              </a:rPr>
              <a:t>.message { color: #27ae60; }</a:t>
            </a:r>
          </a:p>
          <a:p xmlns:a="http://schemas.openxmlformats.org/drawingml/2006/main">
            <a:pPr>
              <a:defRPr sz="1275" b="0">
                <a:solidFill>
                  <a:srgbClr val="B9F8CF"/>
                </a:solidFill>
              </a:defRPr>
            </a:pPr>
            <a:r>
              <a:rPr sz="1275" b="0">
                <a:solidFill>
                  <a:srgbClr val="B9F8CF"/>
                </a:solidFill>
              </a:rPr>
              <a:t>#priority { color: #e74c3c; 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3B3AA-156F-4476-B16D-C3E5D1C5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4158"/>
                </a:solidFill>
              </a:defRPr>
            </a:pPr>
            <a:r>
              <a:rPr sz="1650" b="1">
                <a:solidFill>
                  <a:srgbClr val="314158"/>
                </a:solidFill>
              </a:rPr>
              <a:t>练习：让学生删除 id 规则、调整规则顺序，观察最终颜色如何变化。</a:t>
            </a:r>
          </a:p>
        </p:txBody>
      </p:sp>
    </p:spTree>
    <p:extLst>
      <p:ext uri="{BB962C8B-B14F-4D97-AF65-F5344CB8AC3E}">
        <p14:creationId xmlns:p14="http://schemas.microsoft.com/office/powerpoint/2010/main" val="5086338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511594-7723-4785-A30F-D242083E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2748E"/>
                </a:solidFill>
              </a:defRPr>
            </a:pPr>
            <a:r>
              <a:rPr sz="1050" b="1">
                <a:solidFill>
                  <a:srgbClr val="62748E"/>
                </a:solidFill>
              </a:rPr>
              <a:t>CSS2 / CSS3 教学课件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6369EF-BC4E-49A0-9B0D-B791F53C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20618"/>
                </a:solidFill>
              </a:defRPr>
            </a:pPr>
            <a:r>
              <a:rPr sz="2700" b="1">
                <a:solidFill>
                  <a:srgbClr val="020618"/>
                </a:solidFill>
              </a:rPr>
              <a:t>盒模型解释了“为什么宽度不等于视觉宽度”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4CCF0C-9DC5-4A34-991F-B884F415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40005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7307AE-154E-41AA-8307-6E68CA40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课堂重点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A053ED-1505-4C8B-ACA3-7F4C75A5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09800"/>
            <a:ext cx="361950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默认 content-box 下，width 只代表内容区；border-box 更适合现代页面排版。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BFFBCE-B346-4F25-B1D9-0CD0C784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95450"/>
            <a:ext cx="619125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F172B"/>
          </a:solidFill>
          <a:ln xmlns:a="http://schemas.openxmlformats.org/drawingml/2006/main" w="9525">
            <a:solidFill>
              <a:srgbClr val="1D29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1D57BA-2A93-4918-89EC-CD8AAB51A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62150"/>
            <a:ext cx="5657850" cy="289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9F8CF"/>
                </a:solidFill>
              </a:defRPr>
            </a:pPr>
            <a:r>
              <a:rPr sz="1275" b="0">
                <a:solidFill>
                  <a:srgbClr val="B9F8CF"/>
                </a:solidFill>
              </a:rPr>
              <a:t>box-sizing: border-box;</a:t>
            </a:r>
          </a:p>
          <a:p xmlns:a="http://schemas.openxmlformats.org/drawingml/2006/main">
            <a:pPr>
              <a:defRPr sz="1275" b="0">
                <a:solidFill>
                  <a:srgbClr val="B9F8CF"/>
                </a:solidFill>
              </a:defRPr>
            </a:pPr>
            <a:r>
              <a:rPr sz="1275" b="0">
                <a:solidFill>
                  <a:srgbClr val="B9F8CF"/>
                </a:solidFill>
              </a:rPr>
              <a:t>width: 220px;</a:t>
            </a:r>
          </a:p>
          <a:p xmlns:a="http://schemas.openxmlformats.org/drawingml/2006/main">
            <a:pPr>
              <a:defRPr sz="1275" b="0">
                <a:solidFill>
                  <a:srgbClr val="B9F8CF"/>
                </a:solidFill>
              </a:defRPr>
            </a:pPr>
            <a:r>
              <a:rPr sz="1275" b="0">
                <a:solidFill>
                  <a:srgbClr val="B9F8CF"/>
                </a:solidFill>
              </a:rPr>
              <a:t>padding: 24px;</a:t>
            </a:r>
          </a:p>
          <a:p xmlns:a="http://schemas.openxmlformats.org/drawingml/2006/main">
            <a:pPr>
              <a:defRPr sz="1275" b="0">
                <a:solidFill>
                  <a:srgbClr val="B9F8CF"/>
                </a:solidFill>
              </a:defRPr>
            </a:pPr>
            <a:r>
              <a:rPr sz="1275" b="0">
                <a:solidFill>
                  <a:srgbClr val="B9F8CF"/>
                </a:solidFill>
              </a:rPr>
              <a:t>border: 6px solid #27ae60;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0B954E-D192-4256-9185-179D9336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5556C"/>
                </a:solidFill>
              </a:defRPr>
            </a:pPr>
            <a:r>
              <a:rPr sz="1500" b="0">
                <a:solidFill>
                  <a:srgbClr val="45556C"/>
                </a:solidFill>
              </a:rPr>
              <a:t>让学生在试验场修改 padding 与 border，观察两种盒模型的差异。</a:t>
            </a:r>
          </a:p>
        </p:txBody>
      </p:sp>
    </p:spTree>
    <p:extLst>
      <p:ext uri="{BB962C8B-B14F-4D97-AF65-F5344CB8AC3E}">
        <p14:creationId xmlns:p14="http://schemas.microsoft.com/office/powerpoint/2010/main" val="9859253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7C5AB3-9307-49A8-B65F-A78F10F0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2748E"/>
                </a:solidFill>
              </a:defRPr>
            </a:pPr>
            <a:r>
              <a:rPr sz="1050" b="1">
                <a:solidFill>
                  <a:srgbClr val="62748E"/>
                </a:solidFill>
              </a:rPr>
              <a:t>CSS2 / CSS3 教学课件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AA9A16-3662-4B54-B8F8-FF9436C8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20618"/>
                </a:solidFill>
              </a:defRPr>
            </a:pPr>
            <a:r>
              <a:rPr sz="2700" b="1">
                <a:solidFill>
                  <a:srgbClr val="020618"/>
                </a:solidFill>
              </a:rPr>
              <a:t>Flex 解决一维分布，Grid 解决二维网格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0D7BB9-93F7-445F-9D25-A5618A73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40005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6E8393-A290-4B60-B651-E0DD9A0D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布局判断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A87C3D-1D11-4A62-A893-7AF4D1DD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09800"/>
            <a:ext cx="361950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导航、按钮组、卡片横排优先考虑 Flex；复杂行列布局优先考虑 Grid。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CBF20D-653C-4557-9281-78511433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95450"/>
            <a:ext cx="619125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F172B"/>
          </a:solidFill>
          <a:ln xmlns:a="http://schemas.openxmlformats.org/drawingml/2006/main" w="9525">
            <a:solidFill>
              <a:srgbClr val="1D29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439E8E-3EC7-464D-A41C-E8E2A434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62150"/>
            <a:ext cx="5657850" cy="289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9F8CF"/>
                </a:solidFill>
              </a:defRPr>
            </a:pPr>
            <a:r>
              <a:rPr sz="1275" b="0">
                <a:solidFill>
                  <a:srgbClr val="B9F8CF"/>
                </a:solidFill>
              </a:rPr>
              <a:t>display: grid;</a:t>
            </a:r>
          </a:p>
          <a:p xmlns:a="http://schemas.openxmlformats.org/drawingml/2006/main">
            <a:pPr>
              <a:defRPr sz="1275" b="0">
                <a:solidFill>
                  <a:srgbClr val="B9F8CF"/>
                </a:solidFill>
              </a:defRPr>
            </a:pPr>
            <a:r>
              <a:rPr sz="1275" b="0">
                <a:solidFill>
                  <a:srgbClr val="B9F8CF"/>
                </a:solidFill>
              </a:rPr>
              <a:t>grid-template-columns: repeat(2, 1fr);</a:t>
            </a:r>
          </a:p>
          <a:p xmlns:a="http://schemas.openxmlformats.org/drawingml/2006/main">
            <a:pPr>
              <a:defRPr sz="1275" b="0">
                <a:solidFill>
                  <a:srgbClr val="B9F8CF"/>
                </a:solidFill>
              </a:defRPr>
            </a:pPr>
            <a:r>
              <a:rPr sz="1275" b="0">
                <a:solidFill>
                  <a:srgbClr val="B9F8CF"/>
                </a:solidFill>
              </a:rPr>
              <a:t>gap: 12px;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05E297-6BF9-432E-BF36-09A9D695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5556C"/>
                </a:solidFill>
              </a:defRPr>
            </a:pPr>
            <a:r>
              <a:rPr sz="1500" b="0">
                <a:solidFill>
                  <a:srgbClr val="45556C"/>
                </a:solidFill>
              </a:rPr>
              <a:t>示例页提供 Flex 与 Grid 两类可运行代码，适合对比主轴和网格轨道。</a:t>
            </a:r>
          </a:p>
        </p:txBody>
      </p:sp>
    </p:spTree>
    <p:extLst>
      <p:ext uri="{BB962C8B-B14F-4D97-AF65-F5344CB8AC3E}">
        <p14:creationId xmlns:p14="http://schemas.microsoft.com/office/powerpoint/2010/main" val="11027660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6C1C65-16A1-41FA-9CA7-98264ED6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2748E"/>
                </a:solidFill>
              </a:defRPr>
            </a:pPr>
            <a:r>
              <a:rPr sz="1050" b="1">
                <a:solidFill>
                  <a:srgbClr val="62748E"/>
                </a:solidFill>
              </a:rPr>
              <a:t>CSS2 / CSS3 教学课件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4C8CFA-F1E2-4C82-A5B3-03E679D8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20618"/>
                </a:solidFill>
              </a:defRPr>
            </a:pPr>
            <a:r>
              <a:rPr sz="2700" b="1">
                <a:solidFill>
                  <a:srgbClr val="020618"/>
                </a:solidFill>
              </a:rPr>
              <a:t>CSS3 让页面更现代，但仍要服务可读性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48C693-504F-455C-AA71-D67B0965F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3143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ACFE2D-967D-4215-A496-EA4BF462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变量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90365F-138F-4C7B-9E63-1C93F24A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66950"/>
            <a:ext cx="2762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统一管理颜色、间距和主题。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4F8160-9C1D-4E30-A659-089650A0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52600"/>
            <a:ext cx="3143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00DC44-1D24-41B6-95FC-DAF17ABE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2405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圆角阴影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6C9444-1D57-4ABC-A510-6AB19E6AD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66950"/>
            <a:ext cx="2762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建立层次，但避免过度装饰。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1A64D3-0CDA-4B8C-BBBD-E8A50CCCA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52600"/>
            <a:ext cx="3143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790990-F176-4515-AD0C-B6426CDB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2405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过渡动画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CB3D90-4959-41EA-ABA4-57FEEBF4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66950"/>
            <a:ext cx="2762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用状态反馈解释交互。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4DF74-AE42-4ACC-8BED-AE0108B8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62350"/>
            <a:ext cx="3143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3D8F0D-C12C-45AF-AD8D-48EA69F3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3380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媒体查询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8754DE-639B-4DE1-B40E-B2A5E722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2762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按视口调整布局。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B8843C-4B03-4ECE-8782-826DD6FF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62350"/>
            <a:ext cx="3143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0B5C53-B97E-4CFE-8136-5FE6A644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3380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滤镜变换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3B05F5-81BB-4B46-9E8B-F58D25AC1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76700"/>
            <a:ext cx="2762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适合强调，不适合正文信息。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741173-B5C5-44F9-BEB8-41743F8C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62350"/>
            <a:ext cx="3143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7F4190-F9AF-47BC-9CA8-BC9C0B39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3380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20618"/>
                </a:solidFill>
              </a:defRPr>
            </a:pPr>
            <a:r>
              <a:rPr sz="1425" b="1">
                <a:solidFill>
                  <a:srgbClr val="020618"/>
                </a:solidFill>
              </a:rPr>
              <a:t>现代伪类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C26363-9363-4F63-8430-0F485DEC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76700"/>
            <a:ext cx="2762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简化选择器并减少重复。</a:t>
            </a:r>
          </a:p>
        </p:txBody>
      </p:sp>
    </p:spTree>
    <p:extLst>
      <p:ext uri="{BB962C8B-B14F-4D97-AF65-F5344CB8AC3E}">
        <p14:creationId xmlns:p14="http://schemas.microsoft.com/office/powerpoint/2010/main" val="7881888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24BABE-E4C5-48C7-85F6-AD6DDCE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2748E"/>
                </a:solidFill>
              </a:defRPr>
            </a:pPr>
            <a:r>
              <a:rPr sz="1050" b="1">
                <a:solidFill>
                  <a:srgbClr val="62748E"/>
                </a:solidFill>
              </a:rPr>
              <a:t>CSS2 / CSS3 教学课件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E886AA-294F-49F5-8035-8C795A444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20618"/>
                </a:solidFill>
              </a:defRPr>
            </a:pPr>
            <a:r>
              <a:rPr sz="2700" b="1">
                <a:solidFill>
                  <a:srgbClr val="020618"/>
                </a:solidFill>
              </a:rPr>
              <a:t>CSS 课后练习应围绕“改 selector 看命中”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42B13A-8253-405B-A85E-569F61AC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8763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314158"/>
                </a:solidFill>
              </a:defRPr>
            </a:pPr>
            <a:r>
              <a:rPr sz="1650" b="0">
                <a:solidFill>
                  <a:srgbClr val="314158"/>
                </a:solidFill>
              </a:rPr>
              <a:t>• 修改简单选择器，观察哪些元素被命中。</a:t>
            </a:r>
          </a:p>
          <a:p xmlns:a="http://schemas.openxmlformats.org/drawingml/2006/main">
            <a:pPr>
              <a:defRPr sz="1650" b="0">
                <a:solidFill>
                  <a:srgbClr val="314158"/>
                </a:solidFill>
              </a:defRPr>
            </a:pPr>
            <a:r>
              <a:rPr sz="1650" b="0">
                <a:solidFill>
                  <a:srgbClr val="314158"/>
                </a:solidFill>
              </a:rPr>
              <a:t>• 把后代选择器改成子代选择器。</a:t>
            </a:r>
          </a:p>
          <a:p xmlns:a="http://schemas.openxmlformats.org/drawingml/2006/main">
            <a:pPr>
              <a:defRPr sz="1650" b="0">
                <a:solidFill>
                  <a:srgbClr val="314158"/>
                </a:solidFill>
              </a:defRPr>
            </a:pPr>
            <a:r>
              <a:rPr sz="1650" b="0">
                <a:solidFill>
                  <a:srgbClr val="314158"/>
                </a:solidFill>
              </a:rPr>
              <a:t>• 尝试 ^=、$=、*= 三种属性匹配。</a:t>
            </a:r>
          </a:p>
          <a:p xmlns:a="http://schemas.openxmlformats.org/drawingml/2006/main">
            <a:pPr>
              <a:defRPr sz="1650" b="0">
                <a:solidFill>
                  <a:srgbClr val="314158"/>
                </a:solidFill>
              </a:defRPr>
            </a:pPr>
            <a:r>
              <a:rPr sz="1650" b="0">
                <a:solidFill>
                  <a:srgbClr val="314158"/>
                </a:solidFill>
              </a:rPr>
              <a:t>• 把 :nth-child(even) 改成 :nth-of-type(odd)。</a:t>
            </a:r>
          </a:p>
          <a:p xmlns:a="http://schemas.openxmlformats.org/drawingml/2006/main">
            <a:pPr>
              <a:defRPr sz="1650" b="0">
                <a:solidFill>
                  <a:srgbClr val="314158"/>
                </a:solidFill>
              </a:defRPr>
            </a:pPr>
            <a:r>
              <a:rPr sz="1650" b="0">
                <a:solidFill>
                  <a:srgbClr val="314158"/>
                </a:solidFill>
              </a:rPr>
              <a:t>• 使用 :not() 排除元素，用 :has() 选择父级。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98970F-67F6-4459-A0E7-BE9A2ED4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25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45556C"/>
                </a:solidFill>
              </a:defRPr>
            </a:pPr>
            <a:r>
              <a:rPr sz="1650" b="1">
                <a:solidFill>
                  <a:srgbClr val="45556C"/>
                </a:solidFill>
              </a:rPr>
              <a:t>建议课堂节奏：先看示例页，再点击每段代码进入试验场修改参数。</a:t>
            </a:r>
          </a:p>
        </p:txBody>
      </p:sp>
    </p:spTree>
    <p:extLst>
      <p:ext uri="{BB962C8B-B14F-4D97-AF65-F5344CB8AC3E}">
        <p14:creationId xmlns:p14="http://schemas.microsoft.com/office/powerpoint/2010/main" val="2074085914"/>
      </p:ext>
    </p:extLst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/>
              </a:defRPr>
            </a:pPr>
            <a:r>
              <a:t>CSS2 / CSS3 教学课件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微软雅黑"/>
              </a:defRPr>
            </a:pPr>
            <a:r>
              <a:t>颜色与背景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微软雅黑"/>
              </a:defRPr>
            </a:pPr>
            <a:r>
              <a:t>CSS 颜色值、文本颜色、背景色、透明度与渐变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8229600" cy="38404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7315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800" b="0">
                <a:solidFill>
                  <a:srgbClr val="2C3E50"/>
                </a:solidFill>
                <a:latin typeface="微软雅黑"/>
              </a:defRPr>
            </a:pPr>
            <a:r>
              <a:t>▸ 颜色名称 — 140+ 预定义英文名 (Tomato, DodgerBlue…)</a:t>
            </a:r>
          </a:p>
          <a:p>
            <a:pPr>
              <a:spcAft>
                <a:spcPts val="720"/>
              </a:spcAft>
              <a:defRPr sz="1800" b="0">
                <a:solidFill>
                  <a:srgbClr val="2C3E50"/>
                </a:solidFill>
                <a:latin typeface="微软雅黑"/>
              </a:defRPr>
            </a:pPr>
            <a:r>
              <a:t>▸ HEX 十六进制 — #RRGGBB 或简写 #RGB</a:t>
            </a:r>
          </a:p>
          <a:p>
            <a:pPr>
              <a:spcAft>
                <a:spcPts val="720"/>
              </a:spcAft>
              <a:defRPr sz="1800" b="0">
                <a:solidFill>
                  <a:srgbClr val="2C3E50"/>
                </a:solidFill>
                <a:latin typeface="微软雅黑"/>
              </a:defRPr>
            </a:pPr>
            <a:r>
              <a:t>▸ RGB / RGBA — rgb(255,0,0) / rgba(255,0,0,0.5)</a:t>
            </a:r>
          </a:p>
          <a:p>
            <a:pPr>
              <a:spcAft>
                <a:spcPts val="720"/>
              </a:spcAft>
              <a:defRPr sz="1800" b="0">
                <a:solidFill>
                  <a:srgbClr val="2C3E50"/>
                </a:solidFill>
                <a:latin typeface="微软雅黑"/>
              </a:defRPr>
            </a:pPr>
            <a:r>
              <a:t>▸ HSL / HSLA — 色相·饱和度·亮度 / 加透明度</a:t>
            </a:r>
          </a:p>
          <a:p>
            <a:pPr>
              <a:spcAft>
                <a:spcPts val="720"/>
              </a:spcAft>
              <a:defRPr sz="1800" b="0">
                <a:solidFill>
                  <a:srgbClr val="2C3E50"/>
                </a:solidFill>
                <a:latin typeface="微软雅黑"/>
              </a:defRPr>
            </a:pPr>
            <a:r>
              <a:t>▸ background-color — 背景色</a:t>
            </a:r>
          </a:p>
          <a:p>
            <a:pPr>
              <a:spcAft>
                <a:spcPts val="720"/>
              </a:spcAft>
              <a:defRPr sz="1800" b="0">
                <a:solidFill>
                  <a:srgbClr val="2C3E50"/>
                </a:solidFill>
                <a:latin typeface="微软雅黑"/>
              </a:defRPr>
            </a:pPr>
            <a:r>
              <a:t>▸ opacity — 元素整体透明度</a:t>
            </a:r>
          </a:p>
          <a:p>
            <a:pPr>
              <a:spcAft>
                <a:spcPts val="720"/>
              </a:spcAft>
              <a:defRPr sz="1800" b="0">
                <a:solidFill>
                  <a:srgbClr val="2C3E50"/>
                </a:solidFill>
                <a:latin typeface="微软雅黑"/>
              </a:defRPr>
            </a:pPr>
            <a:r>
              <a:t>▸ linear-gradient / radial-gradient — 渐变背景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/>
              </a:defRPr>
            </a:pPr>
            <a:r>
              <a:t>CSS2 / CSS3 教学课件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微软雅黑"/>
              </a:defRPr>
            </a:pPr>
            <a:r>
              <a:t>1. CSS 颜色名称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微软雅黑"/>
              </a:defRPr>
            </a:pPr>
            <a:r>
              <a:t>140+ 预定义颜色名，直接用英文单词指定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914400" cy="82296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4495E"/>
                </a:solidFill>
                <a:latin typeface="微软雅黑"/>
              </a:defRPr>
            </a:pPr>
            <a:r>
              <a:t>Tomato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8760" y="1828800"/>
            <a:ext cx="914400" cy="8229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27432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4495E"/>
                </a:solidFill>
                <a:latin typeface="微软雅黑"/>
              </a:defRPr>
            </a:pPr>
            <a:r>
              <a:t>Orange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1828800"/>
            <a:ext cx="914400" cy="82296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27432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4495E"/>
                </a:solidFill>
                <a:latin typeface="微软雅黑"/>
              </a:defRPr>
            </a:pPr>
            <a:r>
              <a:t>DodgerBlue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79" y="1828800"/>
            <a:ext cx="914400" cy="822960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79" y="27432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4495E"/>
                </a:solidFill>
                <a:latin typeface="微软雅黑"/>
              </a:defRPr>
            </a:pPr>
            <a:r>
              <a:t>MediumSeaGreen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828800"/>
            <a:ext cx="914400" cy="82296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7432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4495E"/>
                </a:solidFill>
                <a:latin typeface="微软雅黑"/>
              </a:defRPr>
            </a:pPr>
            <a:r>
              <a:t>Gray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0" y="1828800"/>
            <a:ext cx="914400" cy="822960"/>
          </a:xfrm>
          <a:prstGeom prst="rect">
            <a:avLst/>
          </a:prstGeom>
          <a:solidFill>
            <a:srgbClr val="6A5A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0" y="27432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4495E"/>
                </a:solidFill>
                <a:latin typeface="微软雅黑"/>
              </a:defRPr>
            </a:pPr>
            <a:r>
              <a:t>SlateBlue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59" y="1828800"/>
            <a:ext cx="914400" cy="822960"/>
          </a:xfrm>
          <a:prstGeom prst="rect">
            <a:avLst/>
          </a:prstGeom>
          <a:solidFill>
            <a:srgbClr val="EE8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59" y="27432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4495E"/>
                </a:solidFill>
                <a:latin typeface="微软雅黑"/>
              </a:defRPr>
            </a:pPr>
            <a:r>
              <a:t>Violet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19" y="1828800"/>
            <a:ext cx="914400" cy="822960"/>
          </a:xfrm>
          <a:prstGeom prst="rect">
            <a:avLst/>
          </a:prstGeom>
          <a:solidFill>
            <a:srgbClr val="FF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27432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4495E"/>
                </a:solidFill>
                <a:latin typeface="微软雅黑"/>
              </a:defRPr>
            </a:pPr>
            <a:r>
              <a:t>HotPink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91840"/>
            <a:ext cx="8229600" cy="2560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474720"/>
            <a:ext cx="7680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0">
                <a:solidFill>
                  <a:srgbClr val="D4D4D4"/>
                </a:solidFill>
                <a:latin typeface="微软雅黑"/>
              </a:defRPr>
            </a:pPr>
            <a:r>
              <a:t>p { color: Tomato; }</a:t>
            </a:r>
          </a:p>
          <a:p>
            <a:pPr>
              <a:spcAft>
                <a:spcPts val="640"/>
              </a:spcAft>
              <a:defRPr sz="1600" b="0">
                <a:solidFill>
                  <a:srgbClr val="D4D4D4"/>
                </a:solidFill>
                <a:latin typeface="微软雅黑"/>
              </a:defRPr>
            </a:pPr>
            <a:r>
              <a:t>div { background-color: DodgerBlue; }</a:t>
            </a:r>
          </a:p>
          <a:p>
            <a:pPr>
              <a:spcAft>
                <a:spcPts val="640"/>
              </a:spcAft>
              <a:defRPr sz="1600" b="0">
                <a:solidFill>
                  <a:srgbClr val="D4D4D4"/>
                </a:solidFill>
                <a:latin typeface="微软雅黑"/>
              </a:defRPr>
            </a:pPr>
            <a:r>
              <a:t>span { border-color: MediumSeaGreen; 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/>
              </a:defRPr>
            </a:pPr>
            <a:r>
              <a:t>CSS2 / CSS3 教学课件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微软雅黑"/>
              </a:defRPr>
            </a:pPr>
            <a:r>
              <a:t>2. HEX 十六进制颜色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微软雅黑"/>
              </a:defRPr>
            </a:pPr>
            <a:r>
              <a:t>#RRGGBB（6位）或 #RGB（3位简写）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80"/>
              </a:spcAft>
              <a:defRPr sz="1700" b="0">
                <a:solidFill>
                  <a:srgbClr val="2C3E50"/>
                </a:solidFill>
                <a:latin typeface="微软雅黑"/>
              </a:defRPr>
            </a:pPr>
            <a:r>
              <a:t>#FF0000 — 纯红        #00FF00 — 纯绿        #0000FF — 纯蓝</a:t>
            </a:r>
          </a:p>
          <a:p>
            <a:pPr>
              <a:spcAft>
                <a:spcPts val="680"/>
              </a:spcAft>
              <a:defRPr sz="1700" b="0">
                <a:solidFill>
                  <a:srgbClr val="2C3E50"/>
                </a:solidFill>
                <a:latin typeface="微软雅黑"/>
              </a:defRPr>
            </a:pPr>
            <a:r>
              <a:t>#333    — 深灰（简写）  #3498db — 天蓝        #f1c40f — 金黄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1234440" cy="10972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4495E"/>
                </a:solidFill>
                <a:latin typeface="微软雅黑"/>
              </a:defRPr>
            </a:pPr>
            <a:r>
              <a:t>#FF0000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19" y="2743200"/>
            <a:ext cx="1234440" cy="1097280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19" y="393192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4495E"/>
                </a:solidFill>
                <a:latin typeface="微软雅黑"/>
              </a:defRPr>
            </a:pPr>
            <a:r>
              <a:t>#00FF00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743200"/>
            <a:ext cx="1234440" cy="109728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393192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4495E"/>
                </a:solidFill>
                <a:latin typeface="微软雅黑"/>
              </a:defRPr>
            </a:pPr>
            <a:r>
              <a:t>#0000FF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160" y="2743200"/>
            <a:ext cx="1234440" cy="109728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393192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4495E"/>
                </a:solidFill>
                <a:latin typeface="微软雅黑"/>
              </a:defRPr>
            </a:pPr>
            <a:r>
              <a:t>#333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743200"/>
            <a:ext cx="1234440" cy="10972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93192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4495E"/>
                </a:solidFill>
                <a:latin typeface="微软雅黑"/>
              </a:defRPr>
            </a:pPr>
            <a:r>
              <a:t>#3498db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43800" y="2743200"/>
            <a:ext cx="1234440" cy="1097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393192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4495E"/>
                </a:solidFill>
                <a:latin typeface="微软雅黑"/>
              </a:defRPr>
            </a:pPr>
            <a:r>
              <a:t>#f1c40f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72000"/>
            <a:ext cx="8229600" cy="1645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63440"/>
            <a:ext cx="7680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0">
                <a:solidFill>
                  <a:srgbClr val="D4D4D4"/>
                </a:solidFill>
                <a:latin typeface="微软雅黑"/>
              </a:defRPr>
            </a:pPr>
            <a:r>
              <a:t>div { background: #3498db; }</a:t>
            </a:r>
          </a:p>
          <a:p>
            <a:pPr>
              <a:spcAft>
                <a:spcPts val="640"/>
              </a:spcAft>
              <a:defRPr sz="1600" b="0">
                <a:solidFill>
                  <a:srgbClr val="D4D4D4"/>
                </a:solidFill>
                <a:latin typeface="微软雅黑"/>
              </a:defRPr>
            </a:pPr>
            <a:r>
              <a:t>p { color: #e74c3c; 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/>
              </a:defRPr>
            </a:pPr>
            <a:r>
              <a:t>CSS2 / CSS3 教学课件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微软雅黑"/>
              </a:defRPr>
            </a:pPr>
            <a:r>
              <a:t>3. RGB 与 RGBA 颜色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微软雅黑"/>
              </a:defRPr>
            </a:pPr>
            <a:r>
              <a:t>rgb(红,绿,蓝) 0–255；RGBA 第四个参数是透明度 0–1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931920" cy="38404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C3E50"/>
                </a:solidFill>
                <a:latin typeface="微软雅黑"/>
              </a:defRPr>
            </a:pPr>
            <a:r>
              <a:t>rgb(255,0,0)    — 纯红</a:t>
            </a:r>
          </a:p>
          <a:p>
            <a:pPr>
              <a:spcAft>
                <a:spcPts val="600"/>
              </a:spcAft>
              <a:defRPr sz="1500" b="0">
                <a:solidFill>
                  <a:srgbClr val="2C3E50"/>
                </a:solidFill>
                <a:latin typeface="微软雅黑"/>
              </a:defRPr>
            </a:pPr>
            <a:r>
              <a:t>rgb(0,255,0)    — 纯绿</a:t>
            </a:r>
          </a:p>
          <a:p>
            <a:pPr>
              <a:spcAft>
                <a:spcPts val="600"/>
              </a:spcAft>
              <a:defRPr sz="1500" b="0">
                <a:solidFill>
                  <a:srgbClr val="2C3E50"/>
                </a:solidFill>
                <a:latin typeface="微软雅黑"/>
              </a:defRPr>
            </a:pPr>
            <a:r>
              <a:t>rgb(0,0,255)    — 纯蓝</a:t>
            </a:r>
          </a:p>
          <a:p>
            <a:pPr>
              <a:spcAft>
                <a:spcPts val="600"/>
              </a:spcAft>
              <a:defRPr sz="1500" b="0">
                <a:solidFill>
                  <a:srgbClr val="2C3E50"/>
                </a:solidFill>
                <a:latin typeface="微软雅黑"/>
              </a:defRPr>
            </a:pPr>
            <a:r>
              <a:t>rgb(255,165,0)  — 橙色</a:t>
            </a:r>
          </a:p>
          <a:p>
            <a:pPr>
              <a:spcAft>
                <a:spcPts val="600"/>
              </a:spcAft>
              <a:defRPr sz="1500" b="0">
                <a:solidFill>
                  <a:srgbClr val="2C3E50"/>
                </a:solidFill>
                <a:latin typeface="微软雅黑"/>
              </a:defRPr>
            </a:pPr>
            <a:r>
              <a:t>rgb(128,0,128)  — 紫色</a:t>
            </a:r>
          </a:p>
          <a:p>
            <a:pPr>
              <a:spcAft>
                <a:spcPts val="600"/>
              </a:spcAft>
              <a:defRPr sz="1500" b="0">
                <a:solidFill>
                  <a:srgbClr val="2C3E50"/>
                </a:solidFill>
                <a:latin typeface="微软雅黑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2C3E50"/>
                </a:solidFill>
                <a:latin typeface="微软雅黑"/>
              </a:defRPr>
            </a:pPr>
            <a:r>
              <a:t>rgba(255,0,0,0.5) — 半透明红</a:t>
            </a:r>
          </a:p>
          <a:p>
            <a:pPr>
              <a:spcAft>
                <a:spcPts val="600"/>
              </a:spcAft>
              <a:defRPr sz="1500" b="0">
                <a:solidFill>
                  <a:srgbClr val="2C3E50"/>
                </a:solidFill>
                <a:latin typeface="微软雅黑"/>
              </a:defRPr>
            </a:pPr>
            <a:r>
              <a:t>rgba(0,0,255,0.3) — 30% 蓝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828800"/>
            <a:ext cx="3931920" cy="38404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37760" y="2194560"/>
            <a:ext cx="640080" cy="128016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35661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4495E"/>
                </a:solidFill>
                <a:latin typeface="微软雅黑"/>
              </a:defRPr>
            </a:pPr>
            <a:r>
              <a:t>1.0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7568" y="2194560"/>
            <a:ext cx="640080" cy="128016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87568" y="35661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4495E"/>
                </a:solidFill>
                <a:latin typeface="微软雅黑"/>
              </a:defRPr>
            </a:pPr>
            <a:r>
              <a:t>0.75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2194560"/>
            <a:ext cx="640080" cy="128016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35661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4495E"/>
                </a:solidFill>
                <a:latin typeface="微软雅黑"/>
              </a:defRPr>
            </a:pPr>
            <a:r>
              <a:t>0.5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87184" y="2194560"/>
            <a:ext cx="640080" cy="128016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87184" y="35661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4495E"/>
                </a:solidFill>
                <a:latin typeface="微软雅黑"/>
              </a:defRPr>
            </a:pPr>
            <a:r>
              <a:t>0.25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36992" y="2194560"/>
            <a:ext cx="640080" cy="128016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6992" y="35661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4495E"/>
                </a:solidFill>
                <a:latin typeface="微软雅黑"/>
              </a:defRPr>
            </a:pPr>
            <a:r>
              <a:t>0.1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4114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8D"/>
                </a:solidFill>
                <a:latin typeface="微软雅黑"/>
              </a:defRPr>
            </a:pPr>
            <a:r>
              <a:t>opacity 属性控制整个元素透明度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0" y="4572000"/>
            <a:ext cx="914400" cy="7315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0" y="4617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微软雅黑"/>
              </a:defRPr>
            </a:pPr>
            <a:r>
              <a:t>opacity: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4572000"/>
            <a:ext cx="914400" cy="7315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4617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微软雅黑"/>
              </a:defRPr>
            </a:pPr>
            <a:r>
              <a:t>opacity: 0.5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0" y="4572000"/>
            <a:ext cx="914400" cy="7315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4617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微软雅黑"/>
              </a:defRPr>
            </a:pPr>
            <a:r>
              <a:t>opacity: 0.2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/>
              </a:defRPr>
            </a:pPr>
            <a:r>
              <a:t>CSS2 / CSS3 教学课件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微软雅黑"/>
              </a:defRPr>
            </a:pPr>
            <a:r>
              <a:t>4. HSL 与 HSLA 颜色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微软雅黑"/>
              </a:defRPr>
            </a:pPr>
            <a:r>
              <a:t>hsl(色相, 饱和度%, 亮度%) — 色相 0–360 环形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680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微软雅黑"/>
              </a:defRPr>
            </a:pPr>
            <a:r>
              <a:t>▸ 色相 (Hue): 0°红 → 60°黄 → 120°绿 → 200°蓝 → 270°紫 → 360°红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微软雅黑"/>
              </a:defRPr>
            </a:pPr>
            <a:r>
              <a:t>▸ 饱和度 (Saturation): 0% 灰 → 100% 纯色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微软雅黑"/>
              </a:defRPr>
            </a:pPr>
            <a:r>
              <a:t>▸ 亮度 (Lightness): 0% 黑 → 50% 纯色 → 100% 白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微软雅黑"/>
              </a:defRPr>
            </a:pPr>
            <a:r>
              <a:t>▸ HSLA: 第四个参数 = 透明度 0–1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74720"/>
            <a:ext cx="1508760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4495E"/>
                </a:solidFill>
                <a:latin typeface="微软雅黑"/>
              </a:defRPr>
            </a:pPr>
            <a:r>
              <a:t>hsl(0,100%,50%)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8840" y="3474720"/>
            <a:ext cx="1508760" cy="9144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448056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4495E"/>
                </a:solidFill>
                <a:latin typeface="微软雅黑"/>
              </a:defRPr>
            </a:pPr>
            <a:r>
              <a:t>hsl(60,100%,50%)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3474720"/>
            <a:ext cx="1508760" cy="91440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448056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4495E"/>
                </a:solidFill>
                <a:latin typeface="微软雅黑"/>
              </a:defRPr>
            </a:pPr>
            <a:r>
              <a:t>hsl(120,100%,50%)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32120" y="3474720"/>
            <a:ext cx="1508760" cy="914400"/>
          </a:xfrm>
          <a:prstGeom prst="rect">
            <a:avLst/>
          </a:prstGeom>
          <a:solidFill>
            <a:srgbClr val="0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448056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4495E"/>
                </a:solidFill>
                <a:latin typeface="微软雅黑"/>
              </a:defRPr>
            </a:pPr>
            <a:r>
              <a:t>hsl(200,100%,50%)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3474720"/>
            <a:ext cx="1508760" cy="914400"/>
          </a:xfrm>
          <a:prstGeom prst="rect">
            <a:avLst/>
          </a:prstGeom>
          <a:solidFill>
            <a:srgbClr val="8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448056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4495E"/>
                </a:solidFill>
                <a:latin typeface="微软雅黑"/>
              </a:defRPr>
            </a:pPr>
            <a:r>
              <a:t>hsl(270,100%,50%)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/>
              </a:defRPr>
            </a:pPr>
            <a:r>
              <a:t>同一色相不同亮度 (hsl(210,100%,…)):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303520"/>
            <a:ext cx="1508760" cy="5486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48840" y="5303520"/>
            <a:ext cx="1508760" cy="54864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0" y="5303520"/>
            <a:ext cx="1508760" cy="54864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32120" y="5303520"/>
            <a:ext cx="1508760" cy="548640"/>
          </a:xfrm>
          <a:prstGeom prst="rect">
            <a:avLst/>
          </a:prstGeom>
          <a:solidFill>
            <a:srgbClr val="90C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23760" y="5303520"/>
            <a:ext cx="150876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/>
              </a:defRPr>
            </a:pPr>
            <a:r>
              <a:t>CSS2 / CSS3 教学课件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微软雅黑"/>
              </a:defRPr>
            </a:pPr>
            <a:r>
              <a:t>5. 背景色与文本颜色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微软雅黑"/>
              </a:defRPr>
            </a:pPr>
            <a:r>
              <a:t>background-color 设置背景；color 设置文本前景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931920" cy="38404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980B9"/>
                </a:solidFill>
                <a:latin typeface="微软雅黑"/>
              </a:defRPr>
            </a:pPr>
            <a:r>
              <a:t>background-color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微软雅黑"/>
              </a:defRPr>
            </a:pPr>
            <a:r>
              <a:t>background-color: lightblue;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微软雅黑"/>
              </a:defRPr>
            </a:pPr>
            <a:r>
              <a:t>background-color: #ff6347;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微软雅黑"/>
              </a:defRPr>
            </a:pPr>
            <a:r>
              <a:t>background-color: rgb(46,204,113);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微软雅黑"/>
              </a:defRPr>
            </a:pPr>
            <a:r>
              <a:t>background-color: rgba(0,0,0,0.1);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840480"/>
            <a:ext cx="3474720" cy="457200"/>
          </a:xfrm>
          <a:prstGeom prst="rect">
            <a:avLst/>
          </a:prstGeom>
          <a:solidFill>
            <a:srgbClr val="AD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5876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lightblue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389120"/>
            <a:ext cx="3474720" cy="45720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40740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#ff6347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937760"/>
            <a:ext cx="3474720" cy="4572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95604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rgb(46,204,113)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828800"/>
            <a:ext cx="3931920" cy="38404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19202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980B9"/>
                </a:solidFill>
                <a:latin typeface="微软雅黑"/>
              </a:defRPr>
            </a:pPr>
            <a:r>
              <a:t>color (文本颜色)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3774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74C3C"/>
                </a:solidFill>
                <a:latin typeface="微软雅黑"/>
              </a:defRPr>
            </a:pPr>
            <a:r>
              <a:t>color: #e74c3c — 红色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1546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7AE60"/>
                </a:solidFill>
                <a:latin typeface="微软雅黑"/>
              </a:defRPr>
            </a:pPr>
            <a:r>
              <a:t>color: #27ae60 — 绿色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93192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98DB"/>
                </a:solidFill>
                <a:latin typeface="微软雅黑"/>
              </a:defRPr>
            </a:pPr>
            <a:r>
              <a:t>color: rgb(52,152,219) — 蓝色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70916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D1F9E"/>
                </a:solidFill>
                <a:latin typeface="微软雅黑"/>
              </a:defRPr>
            </a:pPr>
            <a:r>
              <a:t>color: hsl(280,80%,40%) — 紫色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/>
              </a:defRPr>
            </a:pPr>
            <a:r>
              <a:t>CSS2 / CSS3 教学课件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微软雅黑"/>
              </a:defRPr>
            </a:pPr>
            <a:r>
              <a:t>6. 线性渐变 linear-gradient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微软雅黑"/>
              </a:defRPr>
            </a:pPr>
            <a:r>
              <a:t>linear-gradient(方向, 颜色1, 颜色2, …)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微软雅黑"/>
              </a:defRPr>
            </a:pPr>
            <a:r>
              <a:t>▸ 方向: to right / to bottom right / 135deg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微软雅黑"/>
              </a:defRPr>
            </a:pPr>
            <a:r>
              <a:t>▸ 可指定多个颜色 stops: red, orange, green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2743200" cy="8229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2743200"/>
            <a:ext cx="2743200" cy="8229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0" y="2743200"/>
            <a:ext cx="2743200" cy="8229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788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linear-gradient(to right, #e74c3c, #f39c12, #2ecc71)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49039"/>
            <a:ext cx="4114800" cy="82296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3749039"/>
            <a:ext cx="4114800" cy="822960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linear-gradient(135deg, #667eea, #764ba2)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54880"/>
            <a:ext cx="2743200" cy="82296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4754880"/>
            <a:ext cx="2743200" cy="8229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4754880"/>
            <a:ext cx="2743200" cy="82296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00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linear-gradient(to bottom, #1a5276, #2980b9, #3498db)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/>
              </a:defRPr>
            </a:pPr>
            <a:r>
              <a:t>CSS2 / CSS3 教学课件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微软雅黑"/>
              </a:defRPr>
            </a:pPr>
            <a:r>
              <a:t>7. 径向渐变 &amp; 综合应用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微软雅黑"/>
              </a:defRPr>
            </a:pPr>
            <a:r>
              <a:t>radial-gradient(circle/ellipse, …) + 实际 UI 组件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980B9"/>
                </a:solidFill>
                <a:latin typeface="微软雅黑"/>
              </a:defRPr>
            </a:pPr>
            <a:r>
              <a:t>radial-gradient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▸ radial-gradient(circle, #fff, #3498db, #1a5276)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▸ radial-gradient(ellipse, #2ecc71, #27ae60, #1a5276)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▸ 形状: circle（圆形）/ ellipse（椭圆，默认）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828800"/>
            <a:ext cx="36576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0" y="1828800"/>
            <a:ext cx="3657600" cy="1463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2103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🎨 CSS 颜色实验室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560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C3C7"/>
                </a:solidFill>
                <a:latin typeface="微软雅黑"/>
              </a:defRPr>
            </a:pPr>
            <a:r>
              <a:t>探索 CSS 颜色的无限可能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0" y="3566160"/>
            <a:ext cx="1005840" cy="9144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36118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74C3C"/>
                </a:solidFill>
                <a:latin typeface="微软雅黑"/>
              </a:defRPr>
            </a:pPr>
            <a:r>
              <a:t>HEX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3977639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#FF6347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3566160"/>
            <a:ext cx="1005840" cy="914400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36118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7AE60"/>
                </a:solidFill>
                <a:latin typeface="微软雅黑"/>
              </a:defRPr>
            </a:pPr>
            <a:r>
              <a:t>RGB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977639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rgb(0,255,0)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3566160"/>
            <a:ext cx="1005840" cy="9144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36118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  <a:latin typeface="微软雅黑"/>
              </a:defRPr>
            </a:pPr>
            <a:r>
              <a:t>HSL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3977639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hsl(200,80%,50%)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4754880"/>
            <a:ext cx="329184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477316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开始探索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65760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微软雅黑"/>
              </a:defRPr>
            </a:pPr>
            <a:r>
              <a:t>课堂练习：</a:t>
            </a:r>
            <a:br/>
            <a:r>
              <a:t>• 修改渐变方向和颜色</a:t>
            </a:r>
            <a:br/>
            <a:r>
              <a:t>• 用 rgba() 给卡片加阴影</a:t>
            </a:r>
            <a:br/>
            <a:r>
              <a:t>• 创建自己的渐变按钮</a:t>
            </a:r>
            <a:br/>
            <a:r>
              <a:t>• 用 HSL 调出同色系配色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2026-07-12T09:33:00.2390000Z</dcterms:created>
  <dcterms:modified xsi:type="dcterms:W3CDTF">2026-07-12T09:33:00.2390000Z</dcterms:modified>
</coreProperties>
</file>