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102033"/>
                </a:solidFill>
              </a:defRPr>
            </a:pPr>
            <a:r>
              <a:t>Docker 入门教程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5F7083"/>
                </a:solidFill>
              </a:defRPr>
            </a:pPr>
            <a:r>
              <a:t>从零开始掌握容器化部署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D7FB8"/>
                </a:solidFill>
              </a:defRPr>
            </a:pPr>
            <a:r>
              <a:t>核心概念 · 镜像与容器 · Dockerfile · Compose · 生产实践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02033"/>
                </a:solidFill>
              </a:defRPr>
            </a:pPr>
            <a:r>
              <a:t>为什么需要 Docker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51206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D7FB8"/>
                </a:solidFill>
              </a:defRPr>
            </a:pPr>
            <a:r>
              <a:t>传统安装方式</a:t>
            </a:r>
          </a:p>
          <a:p>
            <a:pPr>
              <a:defRPr sz="1600" b="0">
                <a:solidFill>
                  <a:srgbClr val="5F7083"/>
                </a:solidFill>
              </a:defRPr>
            </a:pPr>
            <a:r>
              <a:t>安装包修改系统，产生垃圾文件</a:t>
            </a:r>
          </a:p>
          <a:p>
            <a:pPr>
              <a:defRPr sz="1600" b="0">
                <a:solidFill>
                  <a:srgbClr val="5F7083"/>
                </a:solidFill>
              </a:defRPr>
            </a:pPr>
            <a:r>
              <a:t>每台设备重复配置，环境可能不同</a:t>
            </a:r>
          </a:p>
          <a:p>
            <a:pPr>
              <a:defRPr sz="1600" b="0">
                <a:solidFill>
                  <a:srgbClr val="5F7083"/>
                </a:solidFill>
              </a:defRPr>
            </a:pPr>
            <a:r>
              <a:t>应用之间相互影响，升级可能冲突</a:t>
            </a:r>
          </a:p>
          <a:p>
            <a:pPr>
              <a:defRPr sz="1600" b="0">
                <a:solidFill>
                  <a:srgbClr val="5F7083"/>
                </a:solidFill>
              </a:defRPr>
            </a:pPr>
            <a:r>
              <a:t>数据与程序混在一起，备份困难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188720"/>
            <a:ext cx="51206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478B7"/>
                </a:solidFill>
              </a:defRPr>
            </a:pPr>
            <a:r>
              <a:t>Docker 容器化</a:t>
            </a:r>
          </a:p>
          <a:p>
            <a:pPr>
              <a:defRPr sz="1600" b="0">
                <a:solidFill>
                  <a:srgbClr val="5F7083"/>
                </a:solidFill>
              </a:defRPr>
            </a:pPr>
            <a:r>
              <a:t>容器独立运行，删除即清空</a:t>
            </a:r>
          </a:p>
          <a:p>
            <a:pPr>
              <a:defRPr sz="1600" b="0">
                <a:solidFill>
                  <a:srgbClr val="5F7083"/>
                </a:solidFill>
              </a:defRPr>
            </a:pPr>
            <a:r>
              <a:t>一份配置文件，任意设备一键部署</a:t>
            </a:r>
          </a:p>
          <a:p>
            <a:pPr>
              <a:defRPr sz="1600" b="0">
                <a:solidFill>
                  <a:srgbClr val="5F7083"/>
                </a:solidFill>
              </a:defRPr>
            </a:pPr>
            <a:r>
              <a:t>容器之间完全隔离，互不干扰</a:t>
            </a:r>
          </a:p>
          <a:p>
            <a:pPr>
              <a:defRPr sz="1600" b="0">
                <a:solidFill>
                  <a:srgbClr val="5F7083"/>
                </a:solidFill>
              </a:defRPr>
            </a:pPr>
            <a:r>
              <a:t>程序在容器，数据在本地，独立管理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749039"/>
            <a:ext cx="106070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3192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D7FB8"/>
                </a:solidFill>
              </a:defRPr>
            </a:pPr>
            <a:r>
              <a:t>适合人群</a:t>
            </a:r>
          </a:p>
          <a:p>
            <a:pPr>
              <a:defRPr sz="1600" b="0">
                <a:solidFill>
                  <a:srgbClr val="5F7083"/>
                </a:solidFill>
              </a:defRPr>
            </a:pPr>
            <a:r>
              <a:t>• NAS 用户、软路由用户、有闲置电脑的家庭用户</a:t>
            </a:r>
          </a:p>
          <a:p>
            <a:pPr>
              <a:defRPr sz="1600" b="0">
                <a:solidFill>
                  <a:srgbClr val="5F7083"/>
                </a:solidFill>
              </a:defRPr>
            </a:pPr>
            <a:r>
              <a:t>• 想部署媒体中心、笔记、网盘等服务的技术爱好者</a:t>
            </a:r>
          </a:p>
          <a:p>
            <a:pPr>
              <a:defRPr sz="1600" b="0">
                <a:solidFill>
                  <a:srgbClr val="5F7083"/>
                </a:solidFill>
              </a:defRPr>
            </a:pPr>
            <a:r>
              <a:t>• 听过 Docker 但不知道「到底有什么用」的新手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02033"/>
                </a:solidFill>
              </a:defRPr>
            </a:pPr>
            <a:r>
              <a:t>核心概念：5 个必须理解的词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33832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478B7"/>
                </a:solidFill>
              </a:defRPr>
            </a:pPr>
            <a:r>
              <a:t>镜像 (Image)</a:t>
            </a:r>
          </a:p>
          <a:p>
            <a:pPr>
              <a:defRPr sz="1500" b="0">
                <a:solidFill>
                  <a:srgbClr val="5F7083"/>
                </a:solidFill>
              </a:defRPr>
            </a:pPr>
            <a:r>
              <a:t>应用的「安装包」，包含代码、运行环境、依赖库。可从 Docker Hub 拉取。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480559" y="1188720"/>
            <a:ext cx="33832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39" y="13716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478B7"/>
                </a:solidFill>
              </a:defRPr>
            </a:pPr>
            <a:r>
              <a:t>容器 (Container)</a:t>
            </a:r>
          </a:p>
          <a:p>
            <a:pPr>
              <a:defRPr sz="1500" b="0">
                <a:solidFill>
                  <a:srgbClr val="5F7083"/>
                </a:solidFill>
              </a:defRPr>
            </a:pPr>
            <a:r>
              <a:t>镜像「跑起来」之后的实例。一个镜像可创建无数容器，互不影响。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0" y="1188720"/>
            <a:ext cx="33832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13716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478B7"/>
                </a:solidFill>
              </a:defRPr>
            </a:pPr>
            <a:r>
              <a:t>数据卷 (Volume)</a:t>
            </a:r>
          </a:p>
          <a:p>
            <a:pPr>
              <a:defRPr sz="1500" b="0">
                <a:solidFill>
                  <a:srgbClr val="5F7083"/>
                </a:solidFill>
              </a:defRPr>
            </a:pPr>
            <a:r>
              <a:t>容器和本地之间的「共享文件夹」。容器删除后数据卷内容不消失。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931920"/>
            <a:ext cx="33832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148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478B7"/>
                </a:solidFill>
              </a:defRPr>
            </a:pPr>
            <a:r>
              <a:t>端口映射 (Port)</a:t>
            </a:r>
          </a:p>
          <a:p>
            <a:pPr>
              <a:defRPr sz="1500" b="0">
                <a:solidFill>
                  <a:srgbClr val="5F7083"/>
                </a:solidFill>
              </a:defRPr>
            </a:pPr>
            <a:r>
              <a:t>把容器端口映射到宿主机端口。格式：宿主机端口:容器端口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59" y="3931920"/>
            <a:ext cx="33832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39" y="41148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478B7"/>
                </a:solidFill>
              </a:defRPr>
            </a:pPr>
            <a:r>
              <a:t>Docker Compose</a:t>
            </a:r>
          </a:p>
          <a:p>
            <a:pPr>
              <a:defRPr sz="1500" b="0">
                <a:solidFill>
                  <a:srgbClr val="5F7083"/>
                </a:solidFill>
              </a:defRPr>
            </a:pPr>
            <a:r>
              <a:t>用一个 YAML 文件描述一整套服务，一条命令启动所有容器。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02033"/>
                </a:solidFill>
              </a:defRPr>
            </a:pPr>
            <a:r>
              <a:t>安装 Docker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33832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478B7"/>
                </a:solidFill>
              </a:defRPr>
            </a:pPr>
            <a:r>
              <a:t>Windows</a:t>
            </a:r>
          </a:p>
          <a:p>
            <a:pPr>
              <a:defRPr sz="1500" b="0">
                <a:solidFill>
                  <a:srgbClr val="5F7083"/>
                </a:solidFill>
              </a:defRPr>
            </a:pPr>
            <a:r>
              <a:t>1. 下载 Docker Desktop</a:t>
            </a:r>
          </a:p>
          <a:p>
            <a:pPr>
              <a:defRPr sz="1500" b="0">
                <a:solidFill>
                  <a:srgbClr val="5F7083"/>
                </a:solidFill>
              </a:defRPr>
            </a:pPr>
            <a:r>
              <a:t>2. 双击安装，勾选 WSL 2</a:t>
            </a:r>
          </a:p>
          <a:p>
            <a:pPr>
              <a:defRPr sz="1500" b="0">
                <a:solidFill>
                  <a:srgbClr val="5F7083"/>
                </a:solidFill>
              </a:defRPr>
            </a:pPr>
            <a:r>
              <a:t>3. 重启电脑</a:t>
            </a:r>
          </a:p>
          <a:p>
            <a:pPr>
              <a:defRPr sz="1500" b="0">
                <a:solidFill>
                  <a:srgbClr val="5F7083"/>
                </a:solidFill>
              </a:defRPr>
            </a:pPr>
            <a:r>
              <a:t>4. 启动 Docker Desktop</a:t>
            </a:r>
          </a:p>
        </p:txBody>
      </p:sp>
      <p:sp>
        <p:nvSpPr>
          <p:cNvPr id="7" name="Rectangle 6"/>
          <p:cNvSpPr/>
          <p:nvPr/>
        </p:nvSpPr>
        <p:spPr>
          <a:xfrm>
            <a:off x="4480560" y="1188720"/>
            <a:ext cx="33832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3716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478B7"/>
                </a:solidFill>
              </a:defRPr>
            </a:pPr>
            <a:r>
              <a:t>Linux</a:t>
            </a:r>
          </a:p>
          <a:p>
            <a:pPr>
              <a:defRPr sz="1500" b="0">
                <a:solidFill>
                  <a:srgbClr val="5F7083"/>
                </a:solidFill>
              </a:defRPr>
            </a:pPr>
            <a:r>
              <a:t>一键安装：</a:t>
            </a:r>
          </a:p>
          <a:p>
            <a:pPr>
              <a:defRPr sz="1300" b="0">
                <a:solidFill>
                  <a:srgbClr val="5F7083"/>
                </a:solidFill>
              </a:defRPr>
            </a:pPr>
            <a:r>
              <a:t>curl -fsSL https://get.docker.com | sh</a:t>
            </a:r>
          </a:p>
          <a:p>
            <a:pPr>
              <a:defRPr sz="1500" b="0">
                <a:solidFill>
                  <a:srgbClr val="5F7083"/>
                </a:solidFill>
              </a:defRPr>
            </a:pPr>
            <a:r>
              <a:t>加入 docker 组：</a:t>
            </a:r>
          </a:p>
          <a:p>
            <a:pPr>
              <a:defRPr sz="1300" b="0">
                <a:solidFill>
                  <a:srgbClr val="5F7083"/>
                </a:solidFill>
              </a:defRPr>
            </a:pPr>
            <a:r>
              <a:t>sudo usermod -aG docker $USER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0" y="1188720"/>
            <a:ext cx="33832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13716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478B7"/>
                </a:solidFill>
              </a:defRPr>
            </a:pPr>
            <a:r>
              <a:t>macOS</a:t>
            </a:r>
          </a:p>
          <a:p>
            <a:pPr>
              <a:defRPr sz="1500" b="0">
                <a:solidFill>
                  <a:srgbClr val="5F7083"/>
                </a:solidFill>
              </a:defRPr>
            </a:pPr>
            <a:r>
              <a:t>1. 下载 Docker Desktop for Mac</a:t>
            </a:r>
          </a:p>
          <a:p>
            <a:pPr>
              <a:defRPr sz="1500" b="0">
                <a:solidFill>
                  <a:srgbClr val="5F7083"/>
                </a:solidFill>
              </a:defRPr>
            </a:pPr>
            <a:r>
              <a:t>2. 拖到 Applications 目录</a:t>
            </a:r>
          </a:p>
          <a:p>
            <a:pPr>
              <a:defRPr sz="1500" b="0">
                <a:solidFill>
                  <a:srgbClr val="5F7083"/>
                </a:solidFill>
              </a:defRPr>
            </a:pPr>
            <a:r>
              <a:t>3. 启动，等待状态栏变绿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114800"/>
            <a:ext cx="106070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29768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D7FB8"/>
                </a:solidFill>
              </a:defRPr>
            </a:pPr>
            <a:r>
              <a:t>验证安装</a:t>
            </a:r>
          </a:p>
          <a:p>
            <a:pPr>
              <a:defRPr sz="1600" b="0">
                <a:solidFill>
                  <a:srgbClr val="5F7083"/>
                </a:solidFill>
              </a:defRPr>
            </a:pPr>
            <a:r>
              <a:t>docker --version          # 查看版本</a:t>
            </a:r>
          </a:p>
          <a:p>
            <a:pPr>
              <a:defRPr sz="1600" b="0">
                <a:solidFill>
                  <a:srgbClr val="5F7083"/>
                </a:solidFill>
              </a:defRPr>
            </a:pPr>
            <a:r>
              <a:t>docker run hello-world    # 运行测试容器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02033"/>
                </a:solidFill>
              </a:defRPr>
            </a:pPr>
            <a:r>
              <a:t>镜像操作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5303520" cy="50292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A9B7C6"/>
                </a:solidFill>
                <a:latin typeface="Courier New"/>
              </a:defRPr>
            </a:pPr>
            <a:r>
              <a:t>搜索镜像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docker search nginx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拉取镜像（默认 latest）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docker pull nginx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拉取指定版本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docker pull nginx:1.25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查看本地镜像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docker images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删除镜像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docker rmi nginx:1.25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清理无用镜像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docker image prune -f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188720"/>
            <a:ext cx="51206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3716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478B7"/>
                </a:solidFill>
              </a:defRPr>
            </a:pPr>
            <a:r>
              <a:t>镜像命名规则</a:t>
            </a:r>
          </a:p>
          <a:p>
            <a:pPr>
              <a:defRPr sz="1600" b="0">
                <a:solidFill>
                  <a:srgbClr val="5F7083"/>
                </a:solidFill>
              </a:defRPr>
            </a:pPr>
            <a:r>
              <a:t>镜像名:标签</a:t>
            </a:r>
          </a:p>
          <a:p>
            <a:pPr>
              <a:defRPr sz="1000" b="0">
                <a:solidFill>
                  <a:srgbClr val="5F7083"/>
                </a:solidFill>
              </a:defRPr>
            </a:pPr>
          </a:p>
          <a:p>
            <a:pPr>
              <a:defRPr sz="1600" b="0">
                <a:solidFill>
                  <a:srgbClr val="5F7083"/>
                </a:solidFill>
              </a:defRPr>
            </a:pPr>
            <a:r>
              <a:t>不写标签默认 latest</a:t>
            </a:r>
          </a:p>
          <a:p>
            <a:pPr>
              <a:defRPr sz="1600" b="0">
                <a:solidFill>
                  <a:srgbClr val="5F7083"/>
                </a:solidFill>
              </a:defRPr>
            </a:pPr>
            <a:r>
              <a:t>latest 不可控，建议指定版本</a:t>
            </a:r>
          </a:p>
          <a:p>
            <a:pPr>
              <a:defRPr sz="1000" b="0">
                <a:solidFill>
                  <a:srgbClr val="5F7083"/>
                </a:solidFill>
              </a:defRPr>
            </a:pPr>
          </a:p>
          <a:p>
            <a:pPr>
              <a:defRPr sz="1600" b="0">
                <a:solidFill>
                  <a:srgbClr val="5F7083"/>
                </a:solidFill>
              </a:defRPr>
            </a:pPr>
            <a:r>
              <a:t>常见镜像：</a:t>
            </a:r>
          </a:p>
          <a:p>
            <a:pPr>
              <a:defRPr sz="1500" b="0">
                <a:solidFill>
                  <a:srgbClr val="5F7083"/>
                </a:solidFill>
              </a:defRPr>
            </a:pPr>
            <a:r>
              <a:t>• nginx — 网页服务器</a:t>
            </a:r>
          </a:p>
          <a:p>
            <a:pPr>
              <a:defRPr sz="1500" b="0">
                <a:solidFill>
                  <a:srgbClr val="5F7083"/>
                </a:solidFill>
              </a:defRPr>
            </a:pPr>
            <a:r>
              <a:t>• wordpress — 博客程序</a:t>
            </a:r>
          </a:p>
          <a:p>
            <a:pPr>
              <a:defRPr sz="1500" b="0">
                <a:solidFill>
                  <a:srgbClr val="5F7083"/>
                </a:solidFill>
              </a:defRPr>
            </a:pPr>
            <a:r>
              <a:t>• postgres — 数据库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02033"/>
                </a:solidFill>
              </a:defRPr>
            </a:pPr>
            <a:r>
              <a:t>容器操作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5303520" cy="50292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A9B7C6"/>
                </a:solidFill>
                <a:latin typeface="Courier New"/>
              </a:defRPr>
            </a:pPr>
            <a:r>
              <a:t>后台运行容器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docker run -d --name my-nginx -p 8080:80 nginx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查看运行中的容器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docker ps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查看所有容器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docker ps -a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停止/启动/重启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docker stop my-nginx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docker start my-nginx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docker restart my-nginx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删除容器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docker rm my-nginx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进入容器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docker exec -it my-nginx bash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查看日志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docker logs -f my-nginx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188720"/>
            <a:ext cx="51206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3716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478B7"/>
                </a:solidFill>
              </a:defRPr>
            </a:pPr>
            <a:r>
              <a:t>docker run 参数说明</a:t>
            </a:r>
          </a:p>
          <a:p>
            <a:pPr>
              <a:defRPr sz="1500" b="0">
                <a:solidFill>
                  <a:srgbClr val="5F7083"/>
                </a:solidFill>
              </a:defRPr>
            </a:pPr>
            <a:r>
              <a:t>-d              后台运行</a:t>
            </a:r>
          </a:p>
          <a:p>
            <a:pPr>
              <a:defRPr sz="1500" b="0">
                <a:solidFill>
                  <a:srgbClr val="5F7083"/>
                </a:solidFill>
              </a:defRPr>
            </a:pPr>
            <a:r>
              <a:t>--name my-nginx 给容器起名字</a:t>
            </a:r>
          </a:p>
          <a:p>
            <a:pPr>
              <a:defRPr sz="1500" b="0">
                <a:solidFill>
                  <a:srgbClr val="5F7083"/>
                </a:solidFill>
              </a:defRPr>
            </a:pPr>
            <a:r>
              <a:t>-p 8080:80      端口映射</a:t>
            </a:r>
          </a:p>
          <a:p>
            <a:pPr>
              <a:defRPr sz="1500" b="0">
                <a:solidFill>
                  <a:srgbClr val="5F7083"/>
                </a:solidFill>
              </a:defRPr>
            </a:pPr>
            <a:r>
              <a:t>-v ./html:/usr/share/nginx/html  挂载目录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3840480"/>
            <a:ext cx="51206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40233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478B7"/>
                </a:solidFill>
              </a:defRPr>
            </a:pPr>
            <a:r>
              <a:t>数据挂载示例</a:t>
            </a:r>
          </a:p>
          <a:p>
            <a:pPr>
              <a:defRPr sz="1400" b="0">
                <a:solidFill>
                  <a:srgbClr val="5F7083"/>
                </a:solidFill>
              </a:defRPr>
            </a:pPr>
            <a:r>
              <a:t>docker run -d \</a:t>
            </a:r>
          </a:p>
          <a:p>
            <a:pPr>
              <a:defRPr sz="1400" b="0">
                <a:solidFill>
                  <a:srgbClr val="5F7083"/>
                </a:solidFill>
              </a:defRPr>
            </a:pPr>
            <a:r>
              <a:t>  --name my-nginx \</a:t>
            </a:r>
          </a:p>
          <a:p>
            <a:pPr>
              <a:defRPr sz="1400" b="0">
                <a:solidFill>
                  <a:srgbClr val="5F7083"/>
                </a:solidFill>
              </a:defRPr>
            </a:pPr>
            <a:r>
              <a:t>  -p 8080:80 \</a:t>
            </a:r>
          </a:p>
          <a:p>
            <a:pPr>
              <a:defRPr sz="1400" b="0">
                <a:solidFill>
                  <a:srgbClr val="5F7083"/>
                </a:solidFill>
              </a:defRPr>
            </a:pPr>
            <a:r>
              <a:t>  -v ./html:/usr/share/nginx/html:ro \</a:t>
            </a:r>
          </a:p>
          <a:p>
            <a:pPr>
              <a:defRPr sz="1400" b="0">
                <a:solidFill>
                  <a:srgbClr val="5F7083"/>
                </a:solidFill>
              </a:defRPr>
            </a:pPr>
            <a:r>
              <a:t>  nginx:1.25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02033"/>
                </a:solidFill>
              </a:defRPr>
            </a:pPr>
            <a:r>
              <a:t>数据卷 (Volume)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6070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D7FB8"/>
                </a:solidFill>
              </a:defRPr>
            </a:pPr>
            <a:r>
              <a:t>数据卷是容器删除后仍能保留数据的机制</a:t>
            </a:r>
          </a:p>
          <a:p>
            <a:pPr>
              <a:defRPr sz="1600" b="0">
                <a:solidFill>
                  <a:srgbClr val="5F7083"/>
                </a:solidFill>
              </a:defRPr>
            </a:pPr>
            <a:r>
              <a:t>• 数据库文件、配置文件、用户上传的数据，一定要用 volumes 挂载到本地目录</a:t>
            </a:r>
          </a:p>
          <a:p>
            <a:pPr>
              <a:defRPr sz="1600" b="0">
                <a:solidFill>
                  <a:srgbClr val="5F7083"/>
                </a:solidFill>
              </a:defRPr>
            </a:pPr>
            <a:r>
              <a:t>• 备份数据只需要备份数据卷对应的本地目录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108960"/>
            <a:ext cx="51206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918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478B7"/>
                </a:solidFill>
              </a:defRPr>
            </a:pPr>
            <a:r>
              <a:t>具名卷</a:t>
            </a:r>
          </a:p>
          <a:p>
            <a:pPr>
              <a:defRPr sz="1500" b="0">
                <a:solidFill>
                  <a:srgbClr val="5F7083"/>
                </a:solidFill>
              </a:defRPr>
            </a:pPr>
            <a:r>
              <a:t>由 Docker 管理，数据存储在 Docker 目录</a:t>
            </a:r>
          </a:p>
          <a:p>
            <a:pPr>
              <a:defRPr sz="800" b="0">
                <a:solidFill>
                  <a:srgbClr val="5F7083"/>
                </a:solidFill>
              </a:defRPr>
            </a:pPr>
          </a:p>
          <a:p>
            <a:pPr>
              <a:defRPr sz="1400" b="0">
                <a:solidFill>
                  <a:srgbClr val="5F7083"/>
                </a:solidFill>
              </a:defRPr>
            </a:pPr>
            <a:r>
              <a:t>docker volume create my-data</a:t>
            </a:r>
          </a:p>
          <a:p>
            <a:pPr>
              <a:defRPr sz="1400" b="0">
                <a:solidFill>
                  <a:srgbClr val="5F7083"/>
                </a:solidFill>
              </a:defRPr>
            </a:pPr>
            <a:r>
              <a:t>docker run -v my-data:/var/lib/postgresql/data postgres:16</a:t>
            </a:r>
          </a:p>
          <a:p>
            <a:pPr>
              <a:defRPr sz="800" b="0">
                <a:solidFill>
                  <a:srgbClr val="5F7083"/>
                </a:solidFill>
              </a:defRPr>
            </a:pPr>
          </a:p>
          <a:p>
            <a:pPr>
              <a:defRPr sz="1500" b="1">
                <a:solidFill>
                  <a:srgbClr val="5F7083"/>
                </a:solidFill>
              </a:defRPr>
            </a:pPr>
            <a:r>
              <a:t>适用：数据库、持久数据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3108960"/>
            <a:ext cx="51206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32918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478B7"/>
                </a:solidFill>
              </a:defRPr>
            </a:pPr>
            <a:r>
              <a:t>绑定挂载</a:t>
            </a:r>
          </a:p>
          <a:p>
            <a:pPr>
              <a:defRPr sz="1500" b="0">
                <a:solidFill>
                  <a:srgbClr val="5F7083"/>
                </a:solidFill>
              </a:defRPr>
            </a:pPr>
            <a:r>
              <a:t>直接映射宿主机目录或文件</a:t>
            </a:r>
          </a:p>
          <a:p>
            <a:pPr>
              <a:defRPr sz="800" b="0">
                <a:solidFill>
                  <a:srgbClr val="5F7083"/>
                </a:solidFill>
              </a:defRPr>
            </a:pPr>
          </a:p>
          <a:p>
            <a:pPr>
              <a:defRPr sz="1400" b="0">
                <a:solidFill>
                  <a:srgbClr val="5F7083"/>
                </a:solidFill>
              </a:defRPr>
            </a:pPr>
            <a:r>
              <a:t># 绝对路径</a:t>
            </a:r>
          </a:p>
          <a:p>
            <a:pPr>
              <a:defRPr sz="1400" b="0">
                <a:solidFill>
                  <a:srgbClr val="5F7083"/>
                </a:solidFill>
              </a:defRPr>
            </a:pPr>
            <a:r>
              <a:t>docker run -v /host/path:/container/path nginx</a:t>
            </a:r>
          </a:p>
          <a:p>
            <a:pPr>
              <a:defRPr sz="1400" b="0">
                <a:solidFill>
                  <a:srgbClr val="5F7083"/>
                </a:solidFill>
              </a:defRPr>
            </a:pPr>
            <a:r>
              <a:t># 相对路径</a:t>
            </a:r>
          </a:p>
          <a:p>
            <a:pPr>
              <a:defRPr sz="1400" b="0">
                <a:solidFill>
                  <a:srgbClr val="5F7083"/>
                </a:solidFill>
              </a:defRPr>
            </a:pPr>
            <a:r>
              <a:t>docker run -v ./config:/etc/nginx/nginx.conf:ro nginx</a:t>
            </a:r>
          </a:p>
          <a:p>
            <a:pPr>
              <a:defRPr sz="800" b="0">
                <a:solidFill>
                  <a:srgbClr val="5F7083"/>
                </a:solidFill>
              </a:defRPr>
            </a:pPr>
          </a:p>
          <a:p>
            <a:pPr>
              <a:defRPr sz="1500" b="1">
                <a:solidFill>
                  <a:srgbClr val="5F7083"/>
                </a:solidFill>
              </a:defRPr>
            </a:pPr>
            <a:r>
              <a:t>适用：配置文件、代码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02033"/>
                </a:solidFill>
              </a:defRPr>
            </a:pPr>
            <a:r>
              <a:t>Dockerfile 详解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5486400" cy="50292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A9B7C6"/>
                </a:solidFill>
                <a:latin typeface="Courier New"/>
              </a:defRPr>
            </a:pPr>
            <a:r>
              <a:t># 基础镜像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FROM node:20-alpine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# 工作目录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WORKDIR /app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# 复制依赖文件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COPY package*.json ./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RUN npm install --production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# 复制源代码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COPY . .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# 声明端口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EXPOSE 3000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# 启动命令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CMD ["node", "server.js"]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0" y="1188720"/>
            <a:ext cx="484632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0" y="137160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478B7"/>
                </a:solidFill>
              </a:defRPr>
            </a:pPr>
            <a:r>
              <a:t>常用指令</a:t>
            </a:r>
          </a:p>
          <a:p>
            <a:pPr>
              <a:defRPr sz="1500" b="0">
                <a:solidFill>
                  <a:srgbClr val="5F7083"/>
                </a:solidFill>
              </a:defRPr>
            </a:pPr>
            <a:r>
              <a:t>FROM — 基础镜像（必填）</a:t>
            </a:r>
          </a:p>
          <a:p>
            <a:pPr>
              <a:defRPr sz="1500" b="0">
                <a:solidFill>
                  <a:srgbClr val="5F7083"/>
                </a:solidFill>
              </a:defRPr>
            </a:pPr>
            <a:r>
              <a:t>WORKDIR — 工作目录</a:t>
            </a:r>
          </a:p>
          <a:p>
            <a:pPr>
              <a:defRPr sz="1500" b="0">
                <a:solidFill>
                  <a:srgbClr val="5F7083"/>
                </a:solidFill>
              </a:defRPr>
            </a:pPr>
            <a:r>
              <a:t>COPY — 复制文件到镜像</a:t>
            </a:r>
          </a:p>
          <a:p>
            <a:pPr>
              <a:defRPr sz="1500" b="0">
                <a:solidFill>
                  <a:srgbClr val="5F7083"/>
                </a:solidFill>
              </a:defRPr>
            </a:pPr>
            <a:r>
              <a:t>ADD — 复制文件（增强版，支持解压）</a:t>
            </a:r>
          </a:p>
          <a:p>
            <a:pPr>
              <a:defRPr sz="1500" b="0">
                <a:solidFill>
                  <a:srgbClr val="5F7083"/>
                </a:solidFill>
              </a:defRPr>
            </a:pPr>
            <a:r>
              <a:t>RUN — 构建时执行命令</a:t>
            </a:r>
          </a:p>
          <a:p>
            <a:pPr>
              <a:defRPr sz="1500" b="0">
                <a:solidFill>
                  <a:srgbClr val="5F7083"/>
                </a:solidFill>
              </a:defRPr>
            </a:pPr>
            <a:r>
              <a:t>CMD — 容器启动命令（可被覆盖）</a:t>
            </a:r>
          </a:p>
          <a:p>
            <a:pPr>
              <a:defRPr sz="1500" b="0">
                <a:solidFill>
                  <a:srgbClr val="5F7083"/>
                </a:solidFill>
              </a:defRPr>
            </a:pPr>
            <a:r>
              <a:t>ENTRYPOINT — 固定入口点（不可覆盖）</a:t>
            </a:r>
          </a:p>
          <a:p>
            <a:pPr>
              <a:defRPr sz="1500" b="0">
                <a:solidFill>
                  <a:srgbClr val="5F7083"/>
                </a:solidFill>
              </a:defRPr>
            </a:pPr>
            <a:r>
              <a:t>ENV — 环境变量</a:t>
            </a:r>
          </a:p>
          <a:p>
            <a:pPr>
              <a:defRPr sz="1500" b="0">
                <a:solidFill>
                  <a:srgbClr val="5F7083"/>
                </a:solidFill>
              </a:defRPr>
            </a:pPr>
            <a:r>
              <a:t>ARG — 构建参数</a:t>
            </a:r>
          </a:p>
          <a:p>
            <a:pPr>
              <a:defRPr sz="1500" b="0">
                <a:solidFill>
                  <a:srgbClr val="5F7083"/>
                </a:solidFill>
              </a:defRPr>
            </a:pPr>
            <a:r>
              <a:t>EXPOSE — 声明端口</a:t>
            </a:r>
          </a:p>
          <a:p>
            <a:pPr>
              <a:defRPr sz="1500" b="0">
                <a:solidFill>
                  <a:srgbClr val="5F7083"/>
                </a:solidFill>
              </a:defRPr>
            </a:pPr>
            <a:r>
              <a:t>USER — 指定运行用户</a:t>
            </a:r>
          </a:p>
          <a:p>
            <a:pPr>
              <a:defRPr sz="1500" b="0">
                <a:solidFill>
                  <a:srgbClr val="5F7083"/>
                </a:solidFill>
              </a:defRPr>
            </a:pPr>
            <a:r>
              <a:t>HEALTHCHECK — 健康检查</a:t>
            </a:r>
          </a:p>
          <a:p>
            <a:pPr>
              <a:defRPr sz="1500" b="0">
                <a:solidFill>
                  <a:srgbClr val="5F7083"/>
                </a:solidFill>
              </a:defRPr>
            </a:pPr>
            <a:r>
              <a:t>VOLUME — 匿名卷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02033"/>
                </a:solidFill>
              </a:defRPr>
            </a:pPr>
            <a:r>
              <a:t>CMD vs ENTRYPOINT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51206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478B7"/>
                </a:solidFill>
              </a:defRPr>
            </a:pPr>
            <a:r>
              <a:t>CMD</a:t>
            </a:r>
          </a:p>
          <a:p>
            <a:pPr>
              <a:defRPr sz="1600" b="0">
                <a:solidFill>
                  <a:srgbClr val="5F7083"/>
                </a:solidFill>
              </a:defRPr>
            </a:pPr>
            <a:r>
              <a:t>容器启动的默认命令</a:t>
            </a:r>
          </a:p>
          <a:p>
            <a:pPr>
              <a:defRPr sz="1600" b="0">
                <a:solidFill>
                  <a:srgbClr val="5F7083"/>
                </a:solidFill>
              </a:defRPr>
            </a:pPr>
            <a:r>
              <a:t>可被 docker run 参数覆盖</a:t>
            </a:r>
          </a:p>
          <a:p>
            <a:pPr>
              <a:defRPr sz="800" b="0">
                <a:solidFill>
                  <a:srgbClr val="5F7083"/>
                </a:solidFill>
              </a:defRPr>
            </a:pPr>
          </a:p>
          <a:p>
            <a:pPr>
              <a:defRPr sz="1500" b="0">
                <a:solidFill>
                  <a:srgbClr val="5F7083"/>
                </a:solidFill>
              </a:defRPr>
            </a:pPr>
            <a:r>
              <a:t>CMD ["node", "server.js"]</a:t>
            </a:r>
          </a:p>
          <a:p>
            <a:pPr>
              <a:defRPr sz="1400" b="0">
                <a:solidFill>
                  <a:srgbClr val="5F7083"/>
                </a:solidFill>
              </a:defRPr>
            </a:pPr>
            <a:r>
              <a:t># docker run myimage  →  node server.js</a:t>
            </a:r>
          </a:p>
          <a:p>
            <a:pPr>
              <a:defRPr sz="1400" b="0">
                <a:solidFill>
                  <a:srgbClr val="5F7083"/>
                </a:solidFill>
              </a:defRPr>
            </a:pPr>
            <a:r>
              <a:t># docker run myimage python test.py  →  python test.py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188720"/>
            <a:ext cx="51206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478B7"/>
                </a:solidFill>
              </a:defRPr>
            </a:pPr>
            <a:r>
              <a:t>ENTRYPOINT</a:t>
            </a:r>
          </a:p>
          <a:p>
            <a:pPr>
              <a:defRPr sz="1600" b="0">
                <a:solidFill>
                  <a:srgbClr val="5F7083"/>
                </a:solidFill>
              </a:defRPr>
            </a:pPr>
            <a:r>
              <a:t>容器启动的固定入口</a:t>
            </a:r>
          </a:p>
          <a:p>
            <a:pPr>
              <a:defRPr sz="1600" b="0">
                <a:solidFill>
                  <a:srgbClr val="5F7083"/>
                </a:solidFill>
              </a:defRPr>
            </a:pPr>
            <a:r>
              <a:t>docker run 参数会追加到后面</a:t>
            </a:r>
          </a:p>
          <a:p>
            <a:pPr>
              <a:defRPr sz="800" b="0">
                <a:solidFill>
                  <a:srgbClr val="5F7083"/>
                </a:solidFill>
              </a:defRPr>
            </a:pPr>
          </a:p>
          <a:p>
            <a:pPr>
              <a:defRPr sz="1500" b="0">
                <a:solidFill>
                  <a:srgbClr val="5F7083"/>
                </a:solidFill>
              </a:defRPr>
            </a:pPr>
            <a:r>
              <a:t>ENTRYPOINT ["python"]</a:t>
            </a:r>
          </a:p>
          <a:p>
            <a:pPr>
              <a:defRPr sz="1400" b="0">
                <a:solidFill>
                  <a:srgbClr val="5F7083"/>
                </a:solidFill>
              </a:defRPr>
            </a:pPr>
            <a:r>
              <a:t># docker run myimage script.py  →  python script.py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114800"/>
            <a:ext cx="106070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29768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D7FB8"/>
                </a:solidFill>
              </a:defRPr>
            </a:pPr>
            <a:r>
              <a:t>组合使用</a:t>
            </a:r>
          </a:p>
          <a:p>
            <a:pPr>
              <a:defRPr sz="1600" b="0">
                <a:solidFill>
                  <a:srgbClr val="5F7083"/>
                </a:solidFill>
              </a:defRPr>
            </a:pPr>
            <a:r>
              <a:t>ENTRYPOINT ["python"]    # 固定执行 python</a:t>
            </a:r>
          </a:p>
          <a:p>
            <a:pPr>
              <a:defRPr sz="1600" b="0">
                <a:solidFill>
                  <a:srgbClr val="5F7083"/>
                </a:solidFill>
              </a:defRPr>
            </a:pPr>
            <a:r>
              <a:t>CMD ["app.py"]           # 默认参数，可被覆盖</a:t>
            </a:r>
          </a:p>
          <a:p>
            <a:pPr>
              <a:defRPr sz="800" b="0">
                <a:solidFill>
                  <a:srgbClr val="5F7083"/>
                </a:solidFill>
              </a:defRPr>
            </a:pPr>
          </a:p>
          <a:p>
            <a:pPr>
              <a:defRPr sz="1500" b="0">
                <a:solidFill>
                  <a:srgbClr val="5F7083"/>
                </a:solidFill>
              </a:defRPr>
            </a:pPr>
            <a:r>
              <a:t>docker run myimage            →  python app.py</a:t>
            </a:r>
          </a:p>
          <a:p>
            <a:pPr>
              <a:defRPr sz="1500" b="0">
                <a:solidFill>
                  <a:srgbClr val="5F7083"/>
                </a:solidFill>
              </a:defRPr>
            </a:pPr>
            <a:r>
              <a:t>docker run myimage script.py  →  python script.py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02033"/>
                </a:solidFill>
              </a:defRPr>
            </a:pPr>
            <a:r>
              <a:t>多阶段构建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607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D7FB8"/>
                </a:solidFill>
              </a:defRPr>
            </a:pPr>
            <a:r>
              <a:t>编译阶段和运行阶段分离，最终镜像只包含运行所需文件，体积更小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926080"/>
            <a:ext cx="5303520" cy="34747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A9B7C6"/>
                </a:solidFill>
                <a:latin typeface="Courier New"/>
              </a:defRPr>
            </a:pPr>
            <a:r>
              <a:t># ---- 构建阶段 ----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FROM golang:1.22 AS builder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WORKDIR /src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COPY go.mod go.sum ./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RUN go mod download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COPY . .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RUN CGO_ENABLED=0 go build -o /app .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# ---- 运行阶段 ----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FROM scratch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COPY --from=builder /app /app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EXPOSE 8080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ENTRYPOINT ["/app"]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2926080"/>
            <a:ext cx="51206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31089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478B7"/>
                </a:solidFill>
              </a:defRPr>
            </a:pPr>
            <a:r>
              <a:t>为什么用多阶段构建</a:t>
            </a:r>
          </a:p>
          <a:p>
            <a:pPr>
              <a:defRPr sz="1600" b="0">
                <a:solidFill>
                  <a:srgbClr val="5F7083"/>
                </a:solidFill>
              </a:defRPr>
            </a:pPr>
            <a:r>
              <a:t>• 构建工具不进入最终镜像</a:t>
            </a:r>
          </a:p>
          <a:p>
            <a:pPr>
              <a:defRPr sz="1600" b="0">
                <a:solidFill>
                  <a:srgbClr val="5F7083"/>
                </a:solidFill>
              </a:defRPr>
            </a:pPr>
            <a:r>
              <a:t>• 编译器、依赖管理器不需要</a:t>
            </a:r>
          </a:p>
          <a:p>
            <a:pPr>
              <a:defRPr sz="1600" b="0">
                <a:solidFill>
                  <a:srgbClr val="5F7083"/>
                </a:solidFill>
              </a:defRPr>
            </a:pPr>
            <a:r>
              <a:t>• Go 应用最终镜像可小至几 MB</a:t>
            </a:r>
          </a:p>
          <a:p>
            <a:pPr>
              <a:defRPr sz="1000" b="0">
                <a:solidFill>
                  <a:srgbClr val="5F7083"/>
                </a:solidFill>
              </a:defRPr>
            </a:pPr>
          </a:p>
          <a:p>
            <a:pPr>
              <a:defRPr sz="1600" b="1">
                <a:solidFill>
                  <a:srgbClr val="5F7083"/>
                </a:solidFill>
              </a:defRPr>
            </a:pPr>
            <a:r>
              <a:t>常用基础镜像大小对比：</a:t>
            </a:r>
          </a:p>
          <a:p>
            <a:pPr>
              <a:defRPr sz="1500" b="0">
                <a:solidFill>
                  <a:srgbClr val="5F7083"/>
                </a:solidFill>
              </a:defRPr>
            </a:pPr>
            <a:r>
              <a:t>• Alpine: ~5MB</a:t>
            </a:r>
          </a:p>
          <a:p>
            <a:pPr>
              <a:defRPr sz="1500" b="0">
                <a:solidFill>
                  <a:srgbClr val="5F7083"/>
                </a:solidFill>
              </a:defRPr>
            </a:pPr>
            <a:r>
              <a:t>• Debian slim: ~80MB</a:t>
            </a:r>
          </a:p>
          <a:p>
            <a:pPr>
              <a:defRPr sz="1500" b="0">
                <a:solidFill>
                  <a:srgbClr val="5F7083"/>
                </a:solidFill>
              </a:defRPr>
            </a:pPr>
            <a:r>
              <a:t>• Debian 完整: ~120MB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02033"/>
                </a:solidFill>
              </a:defRPr>
            </a:pPr>
            <a:r>
              <a:t>Dockerfile 最佳实践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53035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478B7"/>
                </a:solidFill>
              </a:defRPr>
            </a:pPr>
            <a:r>
              <a:t>1. 利用构建缓存</a:t>
            </a:r>
          </a:p>
          <a:p>
            <a:pPr>
              <a:defRPr sz="1500" b="0">
                <a:solidFill>
                  <a:srgbClr val="5F7083"/>
                </a:solidFill>
              </a:defRPr>
            </a:pPr>
            <a:r>
              <a:t>先 COPY 依赖文件，再 RUN 安装，最后 COPY 源码。依赖不变则缓存命中。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188720"/>
            <a:ext cx="53035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3716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478B7"/>
                </a:solidFill>
              </a:defRPr>
            </a:pPr>
            <a:r>
              <a:t>2. 多阶段构建</a:t>
            </a:r>
          </a:p>
          <a:p>
            <a:pPr>
              <a:defRPr sz="1500" b="0">
                <a:solidFill>
                  <a:srgbClr val="5F7083"/>
                </a:solidFill>
              </a:defRPr>
            </a:pPr>
            <a:r>
              <a:t>编译和运行分离，最终镜像只含运行文件，体积最小。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017520"/>
            <a:ext cx="53035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2004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478B7"/>
                </a:solidFill>
              </a:defRPr>
            </a:pPr>
            <a:r>
              <a:t>3. 轻量基础镜像</a:t>
            </a:r>
          </a:p>
          <a:p>
            <a:pPr>
              <a:defRPr sz="1500" b="0">
                <a:solidFill>
                  <a:srgbClr val="5F7083"/>
                </a:solidFill>
              </a:defRPr>
            </a:pPr>
            <a:r>
              <a:t>优先 Alpine (~5MB)，次选 slim (~80MB)，避免完整版。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3017520"/>
            <a:ext cx="53035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32004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478B7"/>
                </a:solidFill>
              </a:defRPr>
            </a:pPr>
            <a:r>
              <a:t>4. 合并 RUN 指令</a:t>
            </a:r>
          </a:p>
          <a:p>
            <a:pPr>
              <a:defRPr sz="1500" b="0">
                <a:solidFill>
                  <a:srgbClr val="5F7083"/>
                </a:solidFill>
              </a:defRPr>
            </a:pPr>
            <a:r>
              <a:t>多条 RUN 合并为一条，减少层数。末尾清理缓存。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846320"/>
            <a:ext cx="53035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0292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478B7"/>
                </a:solidFill>
              </a:defRPr>
            </a:pPr>
            <a:r>
              <a:t>5. 不用 root 运行</a:t>
            </a:r>
          </a:p>
          <a:p>
            <a:pPr>
              <a:defRPr sz="1500" b="0">
                <a:solidFill>
                  <a:srgbClr val="5F7083"/>
                </a:solidFill>
              </a:defRPr>
            </a:pPr>
            <a:r>
              <a:t>创建专用用户，最后 USER app。安全最佳实践。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4846320"/>
            <a:ext cx="53035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50292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478B7"/>
                </a:solidFill>
              </a:defRPr>
            </a:pPr>
            <a:r>
              <a:t>6. 使用 .dockerignore</a:t>
            </a:r>
          </a:p>
          <a:p>
            <a:pPr>
              <a:defRPr sz="1500" b="0">
                <a:solidFill>
                  <a:srgbClr val="5F7083"/>
                </a:solidFill>
              </a:defRPr>
            </a:pPr>
            <a:r>
              <a:t>排除 node_modules、.git、.env，减小构建上下文。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02033"/>
                </a:solidFill>
              </a:defRPr>
            </a:pPr>
            <a:r>
              <a:t>Docker Compose 为什么需要它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51206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D7FB8"/>
                </a:solidFill>
              </a:defRPr>
            </a:pPr>
            <a:r>
              <a:t>手动 docker run（繁琐）</a:t>
            </a:r>
          </a:p>
          <a:p>
            <a:pPr>
              <a:defRPr sz="1500" b="0">
                <a:solidFill>
                  <a:srgbClr val="5F7083"/>
                </a:solidFill>
              </a:defRPr>
            </a:pPr>
            <a:r>
              <a:t>• 参数多了记不住</a:t>
            </a:r>
          </a:p>
          <a:p>
            <a:pPr>
              <a:defRPr sz="1500" b="0">
                <a:solidFill>
                  <a:srgbClr val="5F7083"/>
                </a:solidFill>
              </a:defRPr>
            </a:pPr>
            <a:r>
              <a:t>• 多个容器有依赖关系，启动顺序易搞错</a:t>
            </a:r>
          </a:p>
          <a:p>
            <a:pPr>
              <a:defRPr sz="1500" b="0">
                <a:solidFill>
                  <a:srgbClr val="5F7083"/>
                </a:solidFill>
              </a:defRPr>
            </a:pPr>
            <a:r>
              <a:t>• 换台机器部署，要重新拼参数</a:t>
            </a:r>
          </a:p>
          <a:p>
            <a:pPr>
              <a:defRPr sz="1500" b="0">
                <a:solidFill>
                  <a:srgbClr val="5F7083"/>
                </a:solidFill>
              </a:defRPr>
            </a:pPr>
            <a:r>
              <a:t>• 升级要重写命令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188720"/>
            <a:ext cx="51206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478B7"/>
                </a:solidFill>
              </a:defRPr>
            </a:pPr>
            <a:r>
              <a:t>Compose（优雅）</a:t>
            </a:r>
          </a:p>
          <a:p>
            <a:pPr>
              <a:defRPr sz="1500" b="0">
                <a:solidFill>
                  <a:srgbClr val="5F7083"/>
                </a:solidFill>
              </a:defRPr>
            </a:pPr>
            <a:r>
              <a:t>• 一个 YAML 文件定义所有服务</a:t>
            </a:r>
          </a:p>
          <a:p>
            <a:pPr>
              <a:defRPr sz="1500" b="0">
                <a:solidFill>
                  <a:srgbClr val="5F7083"/>
                </a:solidFill>
              </a:defRPr>
            </a:pPr>
            <a:r>
              <a:t>• 一条命令启动全部</a:t>
            </a:r>
          </a:p>
          <a:p>
            <a:pPr>
              <a:defRPr sz="1500" b="0">
                <a:solidFill>
                  <a:srgbClr val="5F7083"/>
                </a:solidFill>
              </a:defRPr>
            </a:pPr>
            <a:r>
              <a:t>• 文件本身就是文档</a:t>
            </a:r>
          </a:p>
          <a:p>
            <a:pPr>
              <a:defRPr sz="1500" b="0">
                <a:solidFill>
                  <a:srgbClr val="5F7083"/>
                </a:solidFill>
              </a:defRPr>
            </a:pPr>
            <a:r>
              <a:t>• 升级、迁移、备份都方便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840480"/>
            <a:ext cx="106070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02336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478B7"/>
                </a:solidFill>
              </a:defRPr>
            </a:pPr>
            <a:r>
              <a:t>一句话原则</a:t>
            </a:r>
          </a:p>
          <a:p>
            <a:pPr>
              <a:defRPr sz="2000" b="1">
                <a:solidFill>
                  <a:srgbClr val="102033"/>
                </a:solidFill>
              </a:defRPr>
            </a:pPr>
            <a:r>
              <a:t>只要超过一个容器，就用 Compose。</a:t>
            </a:r>
          </a:p>
          <a:p>
            <a:pPr>
              <a:defRPr sz="1800" b="0">
                <a:solidFill>
                  <a:srgbClr val="5F7083"/>
                </a:solidFill>
              </a:defRPr>
            </a:pPr>
            <a:r>
              <a:t>哪怕只有一个容器，Compose 也比 docker run 好维护。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02033"/>
                </a:solidFill>
              </a:defRPr>
            </a:pPr>
            <a:r>
              <a:t>compose.yaml 完整结构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5486400" cy="50292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A9B7C6"/>
                </a:solidFill>
                <a:latin typeface="Courier New"/>
              </a:defRPr>
            </a:pPr>
            <a:r>
              <a:t>services: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  web: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    image: nginx:1.25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    ports: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      - "8080:80"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    volumes: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      - ./html:/usr/share/nginx/html:ro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    depends_on: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      - app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  app: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    build: ./app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    environment: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      REDIS_URL: redis://redis:6379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    depends_on: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      redis: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        condition: service_healthy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  redis: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    image: redis:alpine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    healthcheck: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      test: ["CMD", "redis-cli", "ping"]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      interval: 5s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      timeout: 3s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      retries: 3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    volumes: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      - redis-data:/data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volumes: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  redis-data: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0" y="1188720"/>
            <a:ext cx="484632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0" y="137160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478B7"/>
                </a:solidFill>
              </a:defRPr>
            </a:pPr>
            <a:r>
              <a:t>三大核心对象</a:t>
            </a:r>
          </a:p>
          <a:p>
            <a:pPr>
              <a:defRPr sz="1700" b="1">
                <a:solidFill>
                  <a:srgbClr val="102033"/>
                </a:solidFill>
              </a:defRPr>
            </a:pPr>
            <a:r>
              <a:t>📦 services（服务）</a:t>
            </a:r>
          </a:p>
          <a:p>
            <a:pPr>
              <a:defRPr sz="1500" b="0">
                <a:solidFill>
                  <a:srgbClr val="5F7083"/>
                </a:solidFill>
              </a:defRPr>
            </a:pPr>
            <a:r>
              <a:t>  每个 service 代表一个容器角色</a:t>
            </a:r>
          </a:p>
          <a:p>
            <a:pPr>
              <a:defRPr sz="1500" b="0">
                <a:solidFill>
                  <a:srgbClr val="5F7083"/>
                </a:solidFill>
              </a:defRPr>
            </a:pPr>
            <a:r>
              <a:t>  常用字段：image、build、ports、</a:t>
            </a:r>
          </a:p>
          <a:p>
            <a:pPr>
              <a:defRPr sz="1500" b="0">
                <a:solidFill>
                  <a:srgbClr val="5F7083"/>
                </a:solidFill>
              </a:defRPr>
            </a:pPr>
            <a:r>
              <a:t>  volumes、environment、depends_on</a:t>
            </a:r>
          </a:p>
          <a:p>
            <a:pPr>
              <a:defRPr sz="800" b="0">
                <a:solidFill>
                  <a:srgbClr val="5F7083"/>
                </a:solidFill>
              </a:defRPr>
            </a:pPr>
          </a:p>
          <a:p>
            <a:pPr>
              <a:defRPr sz="1700" b="1">
                <a:solidFill>
                  <a:srgbClr val="102033"/>
                </a:solidFill>
              </a:defRPr>
            </a:pPr>
            <a:r>
              <a:t>💾 volumes（卷）</a:t>
            </a:r>
          </a:p>
          <a:p>
            <a:pPr>
              <a:defRPr sz="1500" b="0">
                <a:solidFill>
                  <a:srgbClr val="5F7083"/>
                </a:solidFill>
              </a:defRPr>
            </a:pPr>
            <a:r>
              <a:t>  具名卷：Docker 管理</a:t>
            </a:r>
          </a:p>
          <a:p>
            <a:pPr>
              <a:defRPr sz="1500" b="0">
                <a:solidFill>
                  <a:srgbClr val="5F7083"/>
                </a:solidFill>
              </a:defRPr>
            </a:pPr>
            <a:r>
              <a:t>  绑定挂载：映射宿主机目录</a:t>
            </a:r>
          </a:p>
          <a:p>
            <a:pPr>
              <a:defRPr sz="800" b="0">
                <a:solidFill>
                  <a:srgbClr val="5F7083"/>
                </a:solidFill>
              </a:defRPr>
            </a:pPr>
          </a:p>
          <a:p>
            <a:pPr>
              <a:defRPr sz="1700" b="1">
                <a:solidFill>
                  <a:srgbClr val="102033"/>
                </a:solidFill>
              </a:defRPr>
            </a:pPr>
            <a:r>
              <a:t>🌐 networks（网络）</a:t>
            </a:r>
          </a:p>
          <a:p>
            <a:pPr>
              <a:defRPr sz="1500" b="0">
                <a:solidFill>
                  <a:srgbClr val="5F7083"/>
                </a:solidFill>
              </a:defRPr>
            </a:pPr>
            <a:r>
              <a:t>  默认创建桥接网络</a:t>
            </a:r>
          </a:p>
          <a:p>
            <a:pPr>
              <a:defRPr sz="1500" b="0">
                <a:solidFill>
                  <a:srgbClr val="5F7083"/>
                </a:solidFill>
              </a:defRPr>
            </a:pPr>
            <a:r>
              <a:t>  服务名互访，无需 IP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02033"/>
                </a:solidFill>
              </a:defRPr>
            </a:pPr>
            <a:r>
              <a:t>services 常用字段速查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53035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2344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5F7083"/>
                </a:solidFill>
              </a:defRPr>
            </a:pPr>
            <a:r>
              <a:t>image — 镜像名:标签，别省略标签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097280"/>
            <a:ext cx="53035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2344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5F7083"/>
                </a:solidFill>
              </a:defRPr>
            </a:pPr>
            <a:r>
              <a:t>build — Dockerfile 构建，支持 context、dockerfile、args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011680"/>
            <a:ext cx="53035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1488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5F7083"/>
                </a:solidFill>
              </a:defRPr>
            </a:pPr>
            <a:r>
              <a:t>ports — 端口映射，用字符串格式 "8080:80"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2011680"/>
            <a:ext cx="53035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1488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5F7083"/>
                </a:solidFill>
              </a:defRPr>
            </a:pPr>
            <a:r>
              <a:t>volumes — 目录映射，相对路径相对 yml 文件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926080"/>
            <a:ext cx="53035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0632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5F7083"/>
                </a:solidFill>
              </a:defRPr>
            </a:pPr>
            <a:r>
              <a:t>environment — 环境变量，密码别硬编码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2926080"/>
            <a:ext cx="53035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30632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5F7083"/>
                </a:solidFill>
              </a:defRPr>
            </a:pPr>
            <a:r>
              <a:t>env_file — 从文件加载环境变量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840480"/>
            <a:ext cx="53035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9776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5F7083"/>
                </a:solidFill>
              </a:defRPr>
            </a:pPr>
            <a:r>
              <a:t>depends_on — 启动依赖，只管顺序不管就绪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3840480"/>
            <a:ext cx="53035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39776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5F7083"/>
                </a:solidFill>
              </a:defRPr>
            </a:pPr>
            <a:r>
              <a:t>restart — 重启策略，unless-stopped 最常用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754880"/>
            <a:ext cx="53035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8920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5F7083"/>
                </a:solidFill>
              </a:defRPr>
            </a:pPr>
            <a:r>
              <a:t>healthcheck — 健康检查，配合 depends_on 使用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4754880"/>
            <a:ext cx="53035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48920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5F7083"/>
                </a:solidFill>
              </a:defRPr>
            </a:pPr>
            <a:r>
              <a:t>deploy.resources — 资源限制，防吃满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5669280"/>
            <a:ext cx="53035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8064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5F7083"/>
                </a:solidFill>
              </a:defRPr>
            </a:pPr>
            <a:r>
              <a:t>networks — 自定义网络，服务名互访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5669280"/>
            <a:ext cx="53035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58064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5F7083"/>
                </a:solidFill>
              </a:defRPr>
            </a:pPr>
            <a:r>
              <a:t>command — 覆盖 Dockerfile 的 CMD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6583680"/>
            <a:ext cx="53035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67208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5F7083"/>
                </a:solidFill>
              </a:defRPr>
            </a:pPr>
            <a:r>
              <a:t>logging — 日志配置，限制大小防爆满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02033"/>
                </a:solidFill>
              </a:defRPr>
            </a:pPr>
            <a:r>
              <a:t>depends_on 详解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5486400" cy="27432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A9B7C6"/>
                </a:solidFill>
                <a:latin typeface="Courier New"/>
              </a:defRPr>
            </a:pPr>
            <a:r>
              <a:t>services: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  web: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    image: myapp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    depends_on: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      # 短语法：只等启动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      - redis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      # 长语法：等健康检查通过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      db: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        condition: service_healthy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      # 等一次性任务完成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      migrations: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        condition: service_completed_successfully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0" y="1188720"/>
            <a:ext cx="48463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0" y="137160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478B7"/>
                </a:solidFill>
              </a:defRPr>
            </a:pPr>
            <a:r>
              <a:t>三个 condition</a:t>
            </a:r>
          </a:p>
          <a:p>
            <a:pPr>
              <a:defRPr sz="1600" b="1">
                <a:solidFill>
                  <a:srgbClr val="102033"/>
                </a:solidFill>
              </a:defRPr>
            </a:pPr>
            <a:r>
              <a:t>service_started（默认）</a:t>
            </a:r>
          </a:p>
          <a:p>
            <a:pPr>
              <a:defRPr sz="1500" b="0">
                <a:solidFill>
                  <a:srgbClr val="5F7083"/>
                </a:solidFill>
              </a:defRPr>
            </a:pPr>
            <a:r>
              <a:t>  容器启动即可，不等就绪</a:t>
            </a:r>
          </a:p>
          <a:p>
            <a:pPr>
              <a:defRPr sz="800" b="0">
                <a:solidFill>
                  <a:srgbClr val="5F7083"/>
                </a:solidFill>
              </a:defRPr>
            </a:pPr>
          </a:p>
          <a:p>
            <a:pPr>
              <a:defRPr sz="1600" b="1">
                <a:solidFill>
                  <a:srgbClr val="102033"/>
                </a:solidFill>
              </a:defRPr>
            </a:pPr>
            <a:r>
              <a:t>service_healthy</a:t>
            </a:r>
          </a:p>
          <a:p>
            <a:pPr>
              <a:defRPr sz="1500" b="0">
                <a:solidFill>
                  <a:srgbClr val="5F7083"/>
                </a:solidFill>
              </a:defRPr>
            </a:pPr>
            <a:r>
              <a:t>  等健康检查通过</a:t>
            </a:r>
          </a:p>
          <a:p>
            <a:pPr>
              <a:defRPr sz="800" b="0">
                <a:solidFill>
                  <a:srgbClr val="5F7083"/>
                </a:solidFill>
              </a:defRPr>
            </a:pPr>
          </a:p>
          <a:p>
            <a:pPr>
              <a:defRPr sz="1600" b="1">
                <a:solidFill>
                  <a:srgbClr val="102033"/>
                </a:solidFill>
              </a:defRPr>
            </a:pPr>
            <a:r>
              <a:t>service_completed_successfully</a:t>
            </a:r>
          </a:p>
          <a:p>
            <a:pPr>
              <a:defRPr sz="1500" b="0">
                <a:solidFill>
                  <a:srgbClr val="5F7083"/>
                </a:solidFill>
              </a:defRPr>
            </a:pPr>
            <a:r>
              <a:t>  等容器正常退出（一次性任务）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297680"/>
            <a:ext cx="106070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48056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D7FB8"/>
                </a:solidFill>
              </a:defRPr>
            </a:pPr>
            <a:r>
              <a:t>健康检查配置</a:t>
            </a:r>
          </a:p>
          <a:p>
            <a:pPr>
              <a:defRPr sz="1500" b="0">
                <a:solidFill>
                  <a:srgbClr val="5F7083"/>
                </a:solidFill>
              </a:defRPr>
            </a:pPr>
            <a:r>
              <a:t>healthcheck:</a:t>
            </a:r>
            <a:br/>
            <a:r>
              <a:t>  test: ["CMD", "pg_isready", "-U", "postgres"]</a:t>
            </a:r>
            <a:br/>
            <a:r>
              <a:t>  interval: 5s      # 检查间隔</a:t>
            </a:r>
            <a:br/>
            <a:r>
              <a:t>  timeout: 3s       # 超时时间</a:t>
            </a:r>
            <a:br/>
            <a:r>
              <a:t>  retries: 5        # 重试次数</a:t>
            </a:r>
            <a:br/>
            <a:r>
              <a:t>  start_period: 40s # 启动宽限期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02033"/>
                </a:solidFill>
              </a:defRPr>
            </a:pPr>
            <a:r>
              <a:t>环境变量管理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5303520" cy="22860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A9B7C6"/>
                </a:solidFill>
                <a:latin typeface="Courier New"/>
              </a:defRPr>
            </a:pPr>
            <a:r>
              <a:t># .env 文件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POSTGRES_VERSION=16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APP_PORT=8080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REDIS_PASSWORD=secret123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840480"/>
            <a:ext cx="5303520" cy="25603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A9B7C6"/>
                </a:solidFill>
                <a:latin typeface="Courier New"/>
              </a:defRPr>
            </a:pPr>
            <a:r>
              <a:t># compose.yaml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services: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  db: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    image: postgres:${POSTGRES_VERSION}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    environment: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      POSTGRES_PASSWORD: ${REDIS_PASSWORD}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  web: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    ports: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      - "${APP_PORT}:80"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    env_file: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      - .env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188720"/>
            <a:ext cx="512064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3716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478B7"/>
                </a:solidFill>
              </a:defRPr>
            </a:pPr>
            <a:r>
              <a:t>变量优先级</a:t>
            </a:r>
          </a:p>
          <a:p>
            <a:pPr>
              <a:defRPr sz="1600" b="0">
                <a:solidFill>
                  <a:srgbClr val="5F7083"/>
                </a:solidFill>
              </a:defRPr>
            </a:pPr>
            <a:r>
              <a:t>1. shell 环境变量（export）</a:t>
            </a:r>
          </a:p>
          <a:p>
            <a:pPr>
              <a:defRPr sz="1600" b="0">
                <a:solidFill>
                  <a:srgbClr val="5F7083"/>
                </a:solidFill>
              </a:defRPr>
            </a:pPr>
            <a:r>
              <a:t>2. .env 文件</a:t>
            </a:r>
          </a:p>
          <a:p>
            <a:pPr>
              <a:defRPr sz="1600" b="0">
                <a:solidFill>
                  <a:srgbClr val="5F7083"/>
                </a:solidFill>
              </a:defRPr>
            </a:pPr>
            <a:r>
              <a:t>3. Compose 文件中的默认值</a:t>
            </a:r>
          </a:p>
          <a:p>
            <a:pPr>
              <a:defRPr sz="1000" b="0">
                <a:solidFill>
                  <a:srgbClr val="5F7083"/>
                </a:solidFill>
              </a:defRPr>
            </a:pPr>
          </a:p>
          <a:p>
            <a:pPr>
              <a:defRPr sz="1600" b="1">
                <a:solidFill>
                  <a:srgbClr val="102033"/>
                </a:solidFill>
              </a:defRPr>
            </a:pPr>
            <a:r>
              <a:t>注意：</a:t>
            </a:r>
          </a:p>
          <a:p>
            <a:pPr>
              <a:defRPr sz="1500" b="0">
                <a:solidFill>
                  <a:srgbClr val="5F7083"/>
                </a:solidFill>
              </a:defRPr>
            </a:pPr>
            <a:r>
              <a:t>• .env 是给 Compose 用的变量替换</a:t>
            </a:r>
          </a:p>
          <a:p>
            <a:pPr>
              <a:defRPr sz="1500" b="0">
                <a:solidFill>
                  <a:srgbClr val="5F7083"/>
                </a:solidFill>
              </a:defRPr>
            </a:pPr>
            <a:r>
              <a:t>• 不是自动注入容器的环境变量</a:t>
            </a:r>
          </a:p>
          <a:p>
            <a:pPr>
              <a:defRPr sz="1500" b="0">
                <a:solidFill>
                  <a:srgbClr val="5F7083"/>
                </a:solidFill>
              </a:defRPr>
            </a:pPr>
            <a:r>
              <a:t>• 要注入容器需用 environment 或 env_file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02033"/>
                </a:solidFill>
              </a:defRPr>
            </a:pPr>
            <a:r>
              <a:t>网络与服务发现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5303520" cy="36576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A9B7C6"/>
                </a:solidFill>
                <a:latin typeface="Courier New"/>
              </a:defRPr>
            </a:pPr>
            <a:r>
              <a:t>services: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  proxy: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    image: nginx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    networks: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      - frontend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  app: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    image: myapp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    networks: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      - frontend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      - backend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  db: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    image: postgres:16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    networks: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      - backend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networks: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  frontend: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  backend: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188720"/>
            <a:ext cx="51206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3716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478B7"/>
                </a:solidFill>
              </a:defRPr>
            </a:pPr>
            <a:r>
              <a:t>网络隔离效果</a:t>
            </a:r>
          </a:p>
          <a:p>
            <a:pPr>
              <a:defRPr sz="1600" b="0">
                <a:solidFill>
                  <a:srgbClr val="5F7083"/>
                </a:solidFill>
              </a:defRPr>
            </a:pPr>
            <a:r>
              <a:t>proxy ↔ app (frontend)</a:t>
            </a:r>
          </a:p>
          <a:p>
            <a:pPr>
              <a:defRPr sz="1600" b="0">
                <a:solidFill>
                  <a:srgbClr val="5F7083"/>
                </a:solidFill>
              </a:defRPr>
            </a:pPr>
            <a:r>
              <a:t>app ↔ db (backend)</a:t>
            </a:r>
          </a:p>
          <a:p>
            <a:pPr>
              <a:defRPr sz="800" b="0">
                <a:solidFill>
                  <a:srgbClr val="5F7083"/>
                </a:solidFill>
              </a:defRPr>
            </a:pPr>
          </a:p>
          <a:p>
            <a:pPr>
              <a:defRPr sz="1600" b="1">
                <a:solidFill>
                  <a:srgbClr val="102033"/>
                </a:solidFill>
              </a:defRPr>
            </a:pPr>
            <a:r>
              <a:t>proxy 无法访问 db</a:t>
            </a:r>
          </a:p>
          <a:p>
            <a:pPr>
              <a:defRPr sz="1600" b="1">
                <a:solidFill>
                  <a:srgbClr val="102033"/>
                </a:solidFill>
              </a:defRPr>
            </a:pPr>
            <a:r>
              <a:t>db 无法被外部直接访问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3840480"/>
            <a:ext cx="51206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40233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478B7"/>
                </a:solidFill>
              </a:defRPr>
            </a:pPr>
            <a:r>
              <a:t>容器间通信</a:t>
            </a:r>
          </a:p>
          <a:p>
            <a:pPr>
              <a:defRPr sz="1600" b="0">
                <a:solidFill>
                  <a:srgbClr val="5F7083"/>
                </a:solidFill>
              </a:defRPr>
            </a:pPr>
            <a:r>
              <a:t>同一网络内用服务名互访</a:t>
            </a:r>
          </a:p>
          <a:p>
            <a:pPr>
              <a:defRPr sz="800" b="0">
                <a:solidFill>
                  <a:srgbClr val="5F7083"/>
                </a:solidFill>
              </a:defRPr>
            </a:pPr>
          </a:p>
          <a:p>
            <a:pPr>
              <a:defRPr sz="1500" b="0">
                <a:solidFill>
                  <a:srgbClr val="5F7083"/>
                </a:solidFill>
              </a:defRPr>
            </a:pPr>
            <a:r>
              <a:t>app 连接 redis：</a:t>
            </a:r>
          </a:p>
          <a:p>
            <a:pPr>
              <a:defRPr sz="1500" b="1">
                <a:solidFill>
                  <a:srgbClr val="5F7083"/>
                </a:solidFill>
              </a:defRPr>
            </a:pPr>
            <a:r>
              <a:t>redis://redis:6379</a:t>
            </a:r>
          </a:p>
          <a:p>
            <a:pPr>
              <a:defRPr sz="800" b="0">
                <a:solidFill>
                  <a:srgbClr val="5F7083"/>
                </a:solidFill>
              </a:defRPr>
            </a:pPr>
          </a:p>
          <a:p>
            <a:pPr>
              <a:defRPr sz="1500" b="1">
                <a:solidFill>
                  <a:srgbClr val="E74C3C"/>
                </a:solidFill>
              </a:defRPr>
            </a:pPr>
            <a:r>
              <a:t>不要用 localhost！</a:t>
            </a:r>
          </a:p>
          <a:p>
            <a:pPr>
              <a:defRPr sz="1500" b="0">
                <a:solidFill>
                  <a:srgbClr val="5F7083"/>
                </a:solidFill>
              </a:defRPr>
            </a:pPr>
            <a:r>
              <a:t>每个容器有自己的 localhost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02033"/>
                </a:solidFill>
              </a:defRPr>
            </a:pPr>
            <a:r>
              <a:t>常用命令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51206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478B7"/>
                </a:solidFill>
              </a:defRPr>
            </a:pPr>
            <a:r>
              <a:t>生命周期管理</a:t>
            </a:r>
          </a:p>
          <a:p>
            <a:pPr>
              <a:defRPr sz="1400" b="0">
                <a:solidFill>
                  <a:srgbClr val="5F7083"/>
                </a:solidFill>
              </a:defRPr>
            </a:pPr>
            <a:r>
              <a:t>docker compose up -d          后台启动全部</a:t>
            </a:r>
          </a:p>
          <a:p>
            <a:pPr>
              <a:defRPr sz="1400" b="0">
                <a:solidFill>
                  <a:srgbClr val="5F7083"/>
                </a:solidFill>
              </a:defRPr>
            </a:pPr>
            <a:r>
              <a:t>docker compose up -d --build  强制重建</a:t>
            </a:r>
          </a:p>
          <a:p>
            <a:pPr>
              <a:defRPr sz="1400" b="0">
                <a:solidFill>
                  <a:srgbClr val="5F7083"/>
                </a:solidFill>
              </a:defRPr>
            </a:pPr>
            <a:r>
              <a:t>docker compose down           停止并删除</a:t>
            </a:r>
          </a:p>
          <a:p>
            <a:pPr>
              <a:defRPr sz="1400" b="0">
                <a:solidFill>
                  <a:srgbClr val="5F7083"/>
                </a:solidFill>
              </a:defRPr>
            </a:pPr>
            <a:r>
              <a:t>docker compose down -v        同时删卷（危险）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188720"/>
            <a:ext cx="51206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478B7"/>
                </a:solidFill>
              </a:defRPr>
            </a:pPr>
            <a:r>
              <a:t>状态与日志</a:t>
            </a:r>
          </a:p>
          <a:p>
            <a:pPr>
              <a:defRPr sz="1400" b="0">
                <a:solidFill>
                  <a:srgbClr val="5F7083"/>
                </a:solidFill>
              </a:defRPr>
            </a:pPr>
            <a:r>
              <a:t>docker compose ps             查看状态</a:t>
            </a:r>
          </a:p>
          <a:p>
            <a:pPr>
              <a:defRPr sz="1400" b="0">
                <a:solidFill>
                  <a:srgbClr val="5F7083"/>
                </a:solidFill>
              </a:defRPr>
            </a:pPr>
            <a:r>
              <a:t>docker compose logs -f        实时日志</a:t>
            </a:r>
          </a:p>
          <a:p>
            <a:pPr>
              <a:defRPr sz="1400" b="0">
                <a:solidFill>
                  <a:srgbClr val="5F7083"/>
                </a:solidFill>
              </a:defRPr>
            </a:pPr>
            <a:r>
              <a:t>docker compose logs -f web    某个服务日志</a:t>
            </a:r>
          </a:p>
          <a:p>
            <a:pPr>
              <a:defRPr sz="1400" b="0">
                <a:solidFill>
                  <a:srgbClr val="5F7083"/>
                </a:solidFill>
              </a:defRPr>
            </a:pPr>
            <a:r>
              <a:t>docker compose config         验证配置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114800"/>
            <a:ext cx="51206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2976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478B7"/>
                </a:solidFill>
              </a:defRPr>
            </a:pPr>
            <a:r>
              <a:t>操作服务</a:t>
            </a:r>
          </a:p>
          <a:p>
            <a:pPr>
              <a:defRPr sz="1400" b="0">
                <a:solidFill>
                  <a:srgbClr val="5F7083"/>
                </a:solidFill>
              </a:defRPr>
            </a:pPr>
            <a:r>
              <a:t>docker compose exec web sh    进入容器</a:t>
            </a:r>
          </a:p>
          <a:p>
            <a:pPr>
              <a:defRPr sz="1400" b="0">
                <a:solidFill>
                  <a:srgbClr val="5F7083"/>
                </a:solidFill>
              </a:defRPr>
            </a:pPr>
            <a:r>
              <a:t>docker compose restart web    重启某个服务</a:t>
            </a:r>
          </a:p>
          <a:p>
            <a:pPr>
              <a:defRPr sz="1400" b="0">
                <a:solidFill>
                  <a:srgbClr val="5F7083"/>
                </a:solidFill>
              </a:defRPr>
            </a:pPr>
            <a:r>
              <a:t>docker compose pull           拉取最新镜像</a:t>
            </a:r>
          </a:p>
          <a:p>
            <a:pPr>
              <a:defRPr sz="1400" b="0">
                <a:solidFill>
                  <a:srgbClr val="5F7083"/>
                </a:solidFill>
              </a:defRPr>
            </a:pPr>
            <a:r>
              <a:t>docker compose build          重新构建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4114800"/>
            <a:ext cx="51206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2976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478B7"/>
                </a:solidFill>
              </a:defRPr>
            </a:pPr>
            <a:r>
              <a:t>镜像管理</a:t>
            </a:r>
          </a:p>
          <a:p>
            <a:pPr>
              <a:defRPr sz="1400" b="0">
                <a:solidFill>
                  <a:srgbClr val="5F7083"/>
                </a:solidFill>
              </a:defRPr>
            </a:pPr>
            <a:r>
              <a:t>docker image prune -f         清理旧镜像</a:t>
            </a:r>
          </a:p>
          <a:p>
            <a:pPr>
              <a:defRPr sz="1400" b="0">
                <a:solidFill>
                  <a:srgbClr val="5F7083"/>
                </a:solidFill>
              </a:defRPr>
            </a:pPr>
            <a:r>
              <a:t>docker compose build --no-cache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02033"/>
                </a:solidFill>
              </a:defRPr>
            </a:pPr>
            <a:r>
              <a:t>实战：家庭服务栈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607040" cy="50292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A9B7C6"/>
                </a:solidFill>
                <a:latin typeface="Courier New"/>
              </a:defRPr>
            </a:pPr>
            <a:r>
              <a:t>services: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  nginx: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    image: nginx:alpine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    restart: unless-stopped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    ports: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      - "80:80"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    volumes: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      - ./nginx/nginx.conf:/etc/nginx/nginx.conf:ro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    depends_on: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      - portainer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      - nextcloud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      - jellyfin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  portainer: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    image: portainer/portainer-ce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    restart: unless-stopped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    ports: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      - "9000:9000"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    volumes: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      - /var/run/docker.sock:/var/run/docker.sock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      - portainer-data:/data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  nextcloud: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    image: nextcloud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    restart: unless-stopped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    volumes: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      - nextcloud-data:/var/www/html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  jellyfin: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    image: jellyfin/jellyfin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    restart: unless-stopped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    ports: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      - "8096:8096"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    volumes: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      - jellyfin-config:/config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      - /media:/media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volumes: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  portainer-data: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  nextcloud-data:</a:t>
            </a:r>
          </a:p>
          <a:p>
            <a:pPr>
              <a:defRPr sz="1400">
                <a:solidFill>
                  <a:srgbClr val="A9B7C6"/>
                </a:solidFill>
                <a:latin typeface="Courier New"/>
              </a:defRPr>
            </a:pPr>
            <a:r>
              <a:t>  jellyfin-config: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02033"/>
                </a:solidFill>
              </a:defRPr>
            </a:pPr>
            <a:r>
              <a:t>常见问题与踩坑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53035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478B7"/>
                </a:solidFill>
              </a:defRPr>
            </a:pPr>
            <a:r>
              <a:t>坑 1：数据没挂载</a:t>
            </a:r>
          </a:p>
          <a:p>
            <a:pPr>
              <a:defRPr sz="1400" b="0">
                <a:solidFill>
                  <a:srgbClr val="5F7083"/>
                </a:solidFill>
              </a:defRPr>
            </a:pPr>
            <a:r>
              <a:t>容器删除后数据丢失。用 volumes 挂载到本地目录。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188720"/>
            <a:ext cx="53035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3716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478B7"/>
                </a:solidFill>
              </a:defRPr>
            </a:pPr>
            <a:r>
              <a:t>坑 2：端口冲突</a:t>
            </a:r>
          </a:p>
          <a:p>
            <a:pPr>
              <a:defRPr sz="1400" b="0">
                <a:solidFill>
                  <a:srgbClr val="5F7083"/>
                </a:solidFill>
              </a:defRPr>
            </a:pPr>
            <a:r>
              <a:t>宿主机端口被占用。看日志，换一个端口。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017520"/>
            <a:ext cx="53035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2004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478B7"/>
                </a:solidFill>
              </a:defRPr>
            </a:pPr>
            <a:r>
              <a:t>坑 3：镜像拉取慢</a:t>
            </a:r>
          </a:p>
          <a:p>
            <a:pPr>
              <a:defRPr sz="1400" b="0">
                <a:solidFill>
                  <a:srgbClr val="5F7083"/>
                </a:solidFill>
              </a:defRPr>
            </a:pPr>
            <a:r>
              <a:t>国内网络问题。配置阿里云/腾讯云镜像加速。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3017520"/>
            <a:ext cx="53035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32004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478B7"/>
                </a:solidFill>
              </a:defRPr>
            </a:pPr>
            <a:r>
              <a:t>坑 4：depends_on ≠ 就绪</a:t>
            </a:r>
          </a:p>
          <a:p>
            <a:pPr>
              <a:defRPr sz="1400" b="0">
                <a:solidFill>
                  <a:srgbClr val="5F7083"/>
                </a:solidFill>
              </a:defRPr>
            </a:pPr>
            <a:r>
              <a:t>只保证启动顺序。用 healthcheck + service_healthy。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846320"/>
            <a:ext cx="53035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0292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478B7"/>
                </a:solidFill>
              </a:defRPr>
            </a:pPr>
            <a:r>
              <a:t>坑 5：容器间用 localhost</a:t>
            </a:r>
          </a:p>
          <a:p>
            <a:pPr>
              <a:defRPr sz="1400" b="0">
                <a:solidFill>
                  <a:srgbClr val="5F7083"/>
                </a:solidFill>
              </a:defRPr>
            </a:pPr>
            <a:r>
              <a:t>每个容器有自己的 localhost。用服务名互访。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4846320"/>
            <a:ext cx="53035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50292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478B7"/>
                </a:solidFill>
              </a:defRPr>
            </a:pPr>
            <a:r>
              <a:t>坑 6：ports 不加引号</a:t>
            </a:r>
          </a:p>
          <a:p>
            <a:pPr>
              <a:defRPr sz="1400" b="0">
                <a:solidFill>
                  <a:srgbClr val="5F7083"/>
                </a:solidFill>
              </a:defRPr>
            </a:pPr>
            <a:r>
              <a:t>YAML 解析错误。端口映射永远用字符串 "80:80"。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02033"/>
                </a:solidFill>
              </a:defRPr>
            </a:pPr>
            <a:r>
              <a:t>总结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607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478B7"/>
                </a:solidFill>
              </a:defRPr>
            </a:pPr>
            <a:r>
              <a:t>Docker 核心</a:t>
            </a:r>
          </a:p>
          <a:p>
            <a:pPr>
              <a:defRPr sz="1700" b="0">
                <a:solidFill>
                  <a:srgbClr val="5F7083"/>
                </a:solidFill>
              </a:defRPr>
            </a:pPr>
            <a:r>
              <a:t>镜像 = 安装包，容器 = 运行实例，数据卷 = 持久化存储，端口映射 = 外部访问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926080"/>
            <a:ext cx="51206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1089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478B7"/>
                </a:solidFill>
              </a:defRPr>
            </a:pPr>
            <a:r>
              <a:t>Dockerfile</a:t>
            </a:r>
          </a:p>
          <a:p>
            <a:pPr>
              <a:defRPr sz="1600" b="0">
                <a:solidFill>
                  <a:srgbClr val="5F7083"/>
                </a:solidFill>
              </a:defRPr>
            </a:pPr>
            <a:r>
              <a:t>• 描述如何构建镜像</a:t>
            </a:r>
          </a:p>
          <a:p>
            <a:pPr>
              <a:defRPr sz="1600" b="0">
                <a:solidFill>
                  <a:srgbClr val="5F7083"/>
                </a:solidFill>
              </a:defRPr>
            </a:pPr>
            <a:r>
              <a:t>• FROM → RUN → COPY → CMD</a:t>
            </a:r>
          </a:p>
          <a:p>
            <a:pPr>
              <a:defRPr sz="1600" b="0">
                <a:solidFill>
                  <a:srgbClr val="5F7083"/>
                </a:solidFill>
              </a:defRPr>
            </a:pPr>
            <a:r>
              <a:t>• 多阶段构建减小体积</a:t>
            </a:r>
          </a:p>
          <a:p>
            <a:pPr>
              <a:defRPr sz="1600" b="0">
                <a:solidFill>
                  <a:srgbClr val="5F7083"/>
                </a:solidFill>
              </a:defRPr>
            </a:pPr>
            <a:r>
              <a:t>• 利用缓存加速构建</a:t>
            </a:r>
          </a:p>
          <a:p>
            <a:pPr>
              <a:defRPr sz="1600" b="0">
                <a:solidFill>
                  <a:srgbClr val="5F7083"/>
                </a:solidFill>
              </a:defRPr>
            </a:pPr>
            <a:r>
              <a:t>• 不要用 root 运行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2926080"/>
            <a:ext cx="51206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31089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478B7"/>
                </a:solidFill>
              </a:defRPr>
            </a:pPr>
            <a:r>
              <a:t>Docker Compose</a:t>
            </a:r>
          </a:p>
          <a:p>
            <a:pPr>
              <a:defRPr sz="1600" b="0">
                <a:solidFill>
                  <a:srgbClr val="5F7083"/>
                </a:solidFill>
              </a:defRPr>
            </a:pPr>
            <a:r>
              <a:t>• YAML 文件定义多容器应用</a:t>
            </a:r>
          </a:p>
          <a:p>
            <a:pPr>
              <a:defRPr sz="1600" b="0">
                <a:solidFill>
                  <a:srgbClr val="5F7083"/>
                </a:solidFill>
              </a:defRPr>
            </a:pPr>
            <a:r>
              <a:t>• services + volumes + networks</a:t>
            </a:r>
          </a:p>
          <a:p>
            <a:pPr>
              <a:defRPr sz="1600" b="0">
                <a:solidFill>
                  <a:srgbClr val="5F7083"/>
                </a:solidFill>
              </a:defRPr>
            </a:pPr>
            <a:r>
              <a:t>• depends_on + healthcheck 管理依赖</a:t>
            </a:r>
          </a:p>
          <a:p>
            <a:pPr>
              <a:defRPr sz="1600" b="0">
                <a:solidFill>
                  <a:srgbClr val="5F7083"/>
                </a:solidFill>
              </a:defRPr>
            </a:pPr>
            <a:r>
              <a:t>• .env 管理敏感配置</a:t>
            </a:r>
          </a:p>
          <a:p>
            <a:pPr>
              <a:defRPr sz="1600" b="0">
                <a:solidFill>
                  <a:srgbClr val="5F7083"/>
                </a:solidFill>
              </a:defRPr>
            </a:pPr>
            <a:r>
              <a:t>• 一条命令启停全部服务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