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498DB"/>
                </a:solidFill>
              </a:defRPr>
            </a:pPr>
            <a:r>
              <a:t>HTML 元素及属性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D4D4"/>
                </a:solidFill>
              </a:defRPr>
            </a:pPr>
            <a:r>
              <a:t>系统学习 HTML 标签与属性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</a:defRPr>
            </a:pPr>
            <a:r>
              <a:t>基于 MDN Web Docs 权威参考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课程大纲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HTML 元素篇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D4D4D4"/>
                </a:solidFill>
              </a:defRPr>
            </a:pPr>
            <a:r>
              <a:t>1. 文本格式化元素</a:t>
            </a:r>
          </a:p>
          <a:p>
            <a:pPr>
              <a:spcAft>
                <a:spcPts val="500"/>
              </a:spcAft>
              <a:defRPr sz="1800">
                <a:solidFill>
                  <a:srgbClr val="D4D4D4"/>
                </a:solidFill>
              </a:defRPr>
            </a:pPr>
            <a:r>
              <a:t>2. 列表与链接元素</a:t>
            </a:r>
          </a:p>
          <a:p>
            <a:pPr>
              <a:spcAft>
                <a:spcPts val="500"/>
              </a:spcAft>
              <a:defRPr sz="1800">
                <a:solidFill>
                  <a:srgbClr val="D4D4D4"/>
                </a:solidFill>
              </a:defRPr>
            </a:pPr>
            <a:r>
              <a:t>3. 表格元素</a:t>
            </a:r>
          </a:p>
          <a:p>
            <a:pPr>
              <a:spcAft>
                <a:spcPts val="500"/>
              </a:spcAft>
              <a:defRPr sz="1800">
                <a:solidFill>
                  <a:srgbClr val="D4D4D4"/>
                </a:solidFill>
              </a:defRPr>
            </a:pPr>
            <a:r>
              <a:t>4. 表单元素</a:t>
            </a:r>
          </a:p>
          <a:p>
            <a:pPr>
              <a:spcAft>
                <a:spcPts val="500"/>
              </a:spcAft>
              <a:defRPr sz="1800">
                <a:solidFill>
                  <a:srgbClr val="D4D4D4"/>
                </a:solidFill>
              </a:defRPr>
            </a:pPr>
            <a:r>
              <a:t>5. 图片与多媒体</a:t>
            </a:r>
          </a:p>
          <a:p>
            <a:pPr>
              <a:spcAft>
                <a:spcPts val="500"/>
              </a:spcAft>
              <a:defRPr sz="1800">
                <a:solidFill>
                  <a:srgbClr val="D4D4D4"/>
                </a:solidFill>
              </a:defRPr>
            </a:pPr>
            <a:r>
              <a:t>6. 语义化结构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HTML 属性篇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D4D4D4"/>
                </a:solidFill>
              </a:defRPr>
            </a:pPr>
            <a:r>
              <a:t>7. 全局属性</a:t>
            </a:r>
          </a:p>
          <a:p>
            <a:pPr>
              <a:spcAft>
                <a:spcPts val="500"/>
              </a:spcAft>
              <a:defRPr sz="1800">
                <a:solidFill>
                  <a:srgbClr val="D4D4D4"/>
                </a:solidFill>
              </a:defRPr>
            </a:pPr>
            <a:r>
              <a:t>8. 表单属性</a:t>
            </a:r>
          </a:p>
          <a:p>
            <a:pPr>
              <a:spcAft>
                <a:spcPts val="500"/>
              </a:spcAft>
              <a:defRPr sz="1800">
                <a:solidFill>
                  <a:srgbClr val="D4D4D4"/>
                </a:solidFill>
              </a:defRPr>
            </a:pPr>
            <a:r>
              <a:t>9. 事件处理器属性</a:t>
            </a:r>
          </a:p>
          <a:p>
            <a:pPr>
              <a:spcAft>
                <a:spcPts val="500"/>
              </a:spcAft>
              <a:defRPr sz="1800">
                <a:solidFill>
                  <a:srgbClr val="D4D4D4"/>
                </a:solidFill>
              </a:defRPr>
            </a:pPr>
            <a:r>
              <a:t>10. 属性最佳实践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一、HTML 基础回顾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HTML = HyperText Markup Language（超文本标记语言）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HTML 文档由元素（Element）组成：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开始标签: &lt;p&gt;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内容: 标签之间的文本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属性: class="intro" id="para1"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结束标签: &lt;/p&gt;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&lt;p class="intro" id="para1"&gt;段落&lt;/p&gt;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↑    ↑       ↑    ↑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标签  属性   值   结束标签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&lt;!DOCTYPE html&gt;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&lt;html lang="zh-CN"&gt;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&lt;head&gt;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&lt;meta charset="UTF-8"&gt;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&lt;title&gt;页面标题&lt;/title&gt;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&lt;/head&gt;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&lt;body&gt;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&lt;h1&gt;标题&lt;/h1&gt;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&lt;p&gt;内容&lt;/p&gt;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&lt;/body&gt;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二、文本格式化元素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标题 h1 ~ h6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h1 最重要，通常每页一个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h2-h6 逐级递减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段落与换行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&lt;p&gt; 定义段落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&lt;br&gt; 换行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&lt;hr&gt; 水平分割线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容器元素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&lt;div&gt; 块级容器（独占一行）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&lt;span&gt; 行内容器（不换行）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&lt;h1&gt;一级标题&lt;/h1&gt;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&lt;h2&gt;二级标题&lt;/h2&gt;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&lt;h3&gt;三级标题&lt;/h3&gt;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&lt;h4&gt;四级标题&lt;/h4&gt;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&lt;h5&gt;五级标题&lt;/h5&gt;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&lt;h6&gt;六级标题&lt;/h6&gt;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&lt;p&gt;段落文本&lt;/p&gt;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&lt;p&gt;第一行&lt;br&gt;第二行&lt;/p&gt;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&lt;hr&gt;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&lt;div&gt;块级容器&lt;/div&gt;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&lt;span&gt;行内容器&lt;/span&gt;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文本语义标签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标签</a:t>
                      </a:r>
                    </a:p>
                  </a:txBody>
                  <a:tcPr>
                    <a:solidFill>
                      <a:srgbClr val="525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525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效果</a:t>
                      </a:r>
                    </a:p>
                  </a:txBody>
                  <a:tcPr>
                    <a:solidFill>
                      <a:srgbClr val="525B7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&lt;strong&gt;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重要性强调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粗体（语义）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&lt;b&gt;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视觉加粗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粗体（无语义）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&lt;em&gt;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重音强调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斜体（语义）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&lt;i&gt;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视觉倾斜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斜体（无语义）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&lt;mark&gt;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高亮标记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黄色背景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&lt;code&gt;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代码片段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等宽字体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&lt;del&gt;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删除内容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删除线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&lt;sub&gt;/&lt;sup&gt;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下标/上标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H₂O / E=mc²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三、列表元素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&lt;ul&gt; 无序列表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项目符号（圆点/方块）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无先后顺序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&lt;ol&gt; 有序列表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type="A" 大写字母编号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start="5" 从5开始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reversed 倒序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&lt;dl&gt; 定义列表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&lt;dt&gt; 术语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&lt;dd&gt; 描述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&lt;ul&gt;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&lt;li&gt;项目 A&lt;/li&gt;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&lt;li&gt;项目 B&lt;/li&gt;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&lt;/ul&gt;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&lt;ol type="A" start="1"&gt;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&lt;li&gt;项目 A&lt;/li&gt;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&lt;li&gt;项目 B&lt;/li&gt;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&lt;/ol&gt;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&lt;dl&gt;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&lt;dt&gt;HTML&lt;/dt&gt;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&lt;dd&gt;超文本标记语言&lt;/dd&gt;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&lt;/dl&gt;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四、链接元素 &lt;a&gt;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href 值类型：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URL → 外部链接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相对路径 → 项目内链接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#id → 锚点跳转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mailto: → 邮件链接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tel: → 电话链接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常用属性：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target="_blank" 新标签页打开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rel="noopener" 安全属性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download 下载文件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title 悬停提示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&lt;a href="https://mdn.com"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 target="_blank"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 rel="noopener"&gt;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MDN Web Docs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&lt;/a&gt;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&lt;a href="#section1"&gt;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跳转到某处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&lt;/a&gt;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&lt;a href="mailto:a@b.com"&gt;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发送邮件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&lt;/a&gt;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&lt;a href="file.pdf" download&gt;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下载文件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&lt;/a&gt;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五、表格元素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表格语义化结构：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&lt;table&gt; 表格容器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&lt;caption&gt; 表格标题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&lt;thead&gt; 表头区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&lt;tbody&gt; 表体区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&lt;tfoot&gt; 表尾区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&lt;tr&gt; 行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&lt;th&gt; 表头单元格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&lt;td&gt; 数据单元格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列分组：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&lt;colgroup&gt; + &lt;col&gt;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合并单元格：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colspan="2" 横向合并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rowspan="2" 纵向合并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&lt;table&gt;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&lt;caption&gt;成绩表&lt;/caption&gt;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&lt;thead&gt;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  &lt;tr&gt;&lt;th&gt;姓名&lt;/th&gt;&lt;th&gt;分数&lt;/th&gt;&lt;/tr&gt;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&lt;/thead&gt;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&lt;tbody&gt;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  &lt;tr&gt;&lt;td&gt;张三&lt;/td&gt;&lt;td&gt;95&lt;/td&gt;&lt;/tr&gt;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&lt;/tbody&gt;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&lt;tfoot&gt;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  &lt;tr&gt;&lt;td&gt;合计&lt;/td&gt;&lt;td&gt;185&lt;/td&gt;&lt;/tr&gt;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&lt;/tfoot&gt;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&lt;/table&gt;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&lt;th colspan="2"&gt;合并2列&lt;/th&gt;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&lt;td rowspan="2"&gt;合并2行&lt;/td&gt;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六、表单元素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&lt;form&gt; 基础属性：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action 提交地址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method GET/POST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enctype 编码类型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标签与分组：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&lt;label&gt; 关联表单控件(for=id)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&lt;fieldset&gt; + &lt;legend&gt; 分组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下拉选择：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&lt;select&gt; + &lt;option&gt;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&lt;optgroup&gt; 选项分组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&lt;datalist&gt; 建议值列表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input 类型：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text / password 文本/密码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email / url / tel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number / range 数字/滑块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date / time / color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radio / checkbox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file / hidden / search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其他元素：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&lt;textarea&gt; 多行文本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&lt;button&gt; 按钮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&lt;progress&gt; 进度条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&lt;meter&gt; 度量值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&lt;output&gt; 计算结果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七、图片与多媒体元素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&lt;img&gt; 图片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src 图片路径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alt 替代文本（必填！）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width / height 尺寸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loading="lazy" 懒加载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&lt;picture&gt; 响应式图片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&lt;source&gt; 指定不同条件的图片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&lt;figure&gt; + &lt;figcaption&gt;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为图片/图表添加标题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&lt;audio&gt; 音频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controls 播放控件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autoplay / loop / muted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&lt;video&gt; 视频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poster 封面图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preload 预加载策略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&lt;iframe&gt; 内嵌页面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src 嵌入地址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loading="lazy"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&lt;embed&gt; / &lt;object&gt;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嵌入外部内容(PDF等)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八、语义化结构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语义化的好处：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✓ 代码可读性更高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✓ SEO 更友好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✓ 可访问性更好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✓ 维护更方便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097280"/>
          <a:ext cx="53035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标签</a:t>
                      </a:r>
                    </a:p>
                  </a:txBody>
                  <a:tcPr>
                    <a:solidFill>
                      <a:srgbClr val="525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语义</a:t>
                      </a:r>
                    </a:p>
                  </a:txBody>
                  <a:tcPr>
                    <a:solidFill>
                      <a:srgbClr val="525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525B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&lt;header&gt;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头部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页面/区块顶部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&lt;nav&gt;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导航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主导航菜单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&lt;main&gt;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主内容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核心内容（唯一）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&lt;article&gt;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独立内容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文章、帖子、卡片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&lt;section&gt;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逻辑分区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章节、功能区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&lt;aside&gt;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辅助内容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侧边栏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&lt;footer&gt;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底部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版权、底部链接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&lt;details&gt;/&lt;summary&gt;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可折叠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FAQ手风琴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&lt;dialog&gt;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对话框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模态弹窗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九、全局属性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标识与样式：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id — 唯一标识符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class — CSS 类名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style — 内联样式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title — 悬停提示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hidden — 隐藏元素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语义相关：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lang — 内容语言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dir — 文字方向(ltr/rtl)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data-* — 自定义数据属性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行为控制：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tabindex — Tab导航顺序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draggable — 可拖拽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contenteditable — 可编辑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spellcheck — 拼写检查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autocapitalize — 自动大写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data-* 示例：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&lt;div data-user-id="1001"&gt;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el.dataset.userId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&lt;div contenteditable="true"&gt;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点击可编辑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&lt;/div&gt;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十、事件处理器属性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注意：内联事件处理器用于教学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实际项目推荐 addEventListener()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097280"/>
          <a:ext cx="53035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156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属性</a:t>
                      </a:r>
                    </a:p>
                  </a:txBody>
                  <a:tcPr>
                    <a:solidFill>
                      <a:srgbClr val="525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触发时机</a:t>
                      </a:r>
                    </a:p>
                  </a:txBody>
                  <a:tcPr>
                    <a:solidFill>
                      <a:srgbClr val="525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常用元素</a:t>
                      </a:r>
                    </a:p>
                  </a:txBody>
                  <a:tcPr>
                    <a:solidFill>
                      <a:srgbClr val="525B7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onclick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点击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所有元素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onmouseover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鼠标悬停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所有元素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oninput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输入实时变化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input, textarea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onchange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值改变(失焦)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input, select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onfocus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获得焦点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input, textarea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onblur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失去焦点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input, textarea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onkeydown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键盘按下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input, textarea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onsubmit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表单提交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form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onload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资源加载完成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img, body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onerror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加载出错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4D4D4"/>
                          </a:solidFill>
                        </a:defRPr>
                      </a:pPr>
                      <a:r>
                        <a:t>img, script</a:t>
                      </a:r>
                    </a:p>
                  </a:txBody>
                  <a:tcPr>
                    <a:solidFill>
                      <a:srgbClr val="2227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十一、HTML 最佳实践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✓ DO 推荐做法：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使用语义化标签替代 div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始终写 alt 属性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用 &lt;label&gt; 关联表单控件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每页有且仅有一个 &lt;h1&gt;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标题层级递进不跳级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添加 &lt;meta charset="UTF-8"&gt;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添加 viewport 元标签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确保键盘可访问性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✗ DON'T 避免做法：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不用 table 做布局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不使用废弃标签(font/center等)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不滥用 &lt;br&gt; 做间距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不在语义化元素中用空标签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不内联写大量样式和事件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不跳过 html/head/body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不嵌套块级在内联元素中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不忽略关闭标签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</a:defRPr>
            </a:pPr>
            <a:r>
              <a:t>课程总结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HTML 提供了丰富的语义化标签和全局属性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掌握它们是学习前端的第一步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核心类别：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表单 | 表格 | 多媒体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文本格式化 | 列表 | 链接</a:t>
            </a:r>
          </a:p>
          <a:p>
            <a:pPr>
              <a:spcAft>
                <a:spcPts val="500"/>
              </a:spcAft>
              <a:defRPr sz="1500">
                <a:solidFill>
                  <a:srgbClr val="D4D4D4"/>
                </a:solidFill>
              </a:defRPr>
            </a:pPr>
            <a:r>
              <a:t>  语义化 | 全局属性 | 事件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参考资源：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MDN Web Docs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https://developer.mozilla.org/zh-CN/docs/Web/HTML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W3School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https://www.w3school.com.cn/html/</a:t>
            </a: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CF0F1"/>
                </a:solidFill>
                <a:latin typeface="Menlo"/>
              </a:defRPr>
            </a:pPr>
            <a:r>
              <a:t>  感谢学习！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F8C8D"/>
                </a:solidFill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